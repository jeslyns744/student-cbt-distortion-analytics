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32"/>
  </p:notesMasterIdLst>
  <p:sldIdLst>
    <p:sldId id="256" r:id="rId2"/>
    <p:sldId id="257" r:id="rId3"/>
    <p:sldId id="259" r:id="rId4"/>
    <p:sldId id="258" r:id="rId5"/>
    <p:sldId id="292" r:id="rId6"/>
    <p:sldId id="293" r:id="rId7"/>
    <p:sldId id="260" r:id="rId8"/>
    <p:sldId id="261" r:id="rId9"/>
    <p:sldId id="290" r:id="rId10"/>
    <p:sldId id="291" r:id="rId11"/>
    <p:sldId id="302" r:id="rId12"/>
    <p:sldId id="298" r:id="rId13"/>
    <p:sldId id="301" r:id="rId14"/>
    <p:sldId id="300" r:id="rId15"/>
    <p:sldId id="268" r:id="rId16"/>
    <p:sldId id="270" r:id="rId17"/>
    <p:sldId id="272" r:id="rId18"/>
    <p:sldId id="294" r:id="rId19"/>
    <p:sldId id="284" r:id="rId20"/>
    <p:sldId id="277" r:id="rId21"/>
    <p:sldId id="295" r:id="rId22"/>
    <p:sldId id="285" r:id="rId23"/>
    <p:sldId id="286" r:id="rId24"/>
    <p:sldId id="278" r:id="rId25"/>
    <p:sldId id="279" r:id="rId26"/>
    <p:sldId id="296" r:id="rId27"/>
    <p:sldId id="281" r:id="rId28"/>
    <p:sldId id="297" r:id="rId29"/>
    <p:sldId id="282" r:id="rId30"/>
    <p:sldId id="280"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54" autoAdjust="0"/>
    <p:restoredTop sz="94660"/>
  </p:normalViewPr>
  <p:slideViewPr>
    <p:cSldViewPr snapToGrid="0">
      <p:cViewPr varScale="1">
        <p:scale>
          <a:sx n="82" d="100"/>
          <a:sy n="82" d="100"/>
        </p:scale>
        <p:origin x="49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8A4F0E-5B93-4CD0-929A-F32DB1550F2D}" type="datetimeFigureOut">
              <a:rPr lang="en-IN" smtClean="0"/>
              <a:t>22-04-2025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A141C8-2195-4978-B195-CE887A5F693A}" type="slidenum">
              <a:rPr lang="en-IN" smtClean="0"/>
              <a:t>‹#›</a:t>
            </a:fld>
            <a:endParaRPr lang="en-IN"/>
          </a:p>
        </p:txBody>
      </p:sp>
    </p:spTree>
    <p:extLst>
      <p:ext uri="{BB962C8B-B14F-4D97-AF65-F5344CB8AC3E}">
        <p14:creationId xmlns:p14="http://schemas.microsoft.com/office/powerpoint/2010/main" val="1144655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4170735-2617-4DE6-9D0E-EA0F948CFB0F}" type="datetime1">
              <a:rPr lang="en-US" smtClean="0"/>
              <a:t>4/22/2025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44C659-4408-4D2A-84FA-08ECDB37B110}" type="datetime1">
              <a:rPr lang="en-US" smtClean="0"/>
              <a:t>4/22/2025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B39D4B-1077-4B37-B8F1-B68D5B148793}" type="datetime1">
              <a:rPr lang="en-US" smtClean="0"/>
              <a:t>4/22/2025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BBCA7F40-2EFC-4A63-828F-C57BF0C80819}" type="datetime1">
              <a:rPr lang="en-US" smtClean="0"/>
              <a:t>4/22/2025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F5FE9831-C0D6-4D22-BFC1-24AF271B1CF3}" type="datetime1">
              <a:rPr lang="en-US" smtClean="0"/>
              <a:t>4/22/2025</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79F6722B-240F-46E5-AFE8-A0E9D5152A31}" type="datetime1">
              <a:rPr lang="en-US" smtClean="0"/>
              <a:t>4/22/2025</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61C46797-20E2-4898-9561-23594D31BCEA}" type="datetime1">
              <a:rPr lang="en-US" smtClean="0"/>
              <a:t>4/22/2025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0C82E630-AB71-413B-8600-A22182A334BB}" type="datetime1">
              <a:rPr lang="en-US" smtClean="0"/>
              <a:t>4/22/2025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BD61AC3A-1A8E-4640-A928-A7FBC28E9B74}" type="datetime1">
              <a:rPr lang="en-US" smtClean="0"/>
              <a:t>4/22/2025</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3712B11-A5B7-4D52-96CE-5D4E2F140A26}" type="datetime1">
              <a:rPr lang="en-US" smtClean="0"/>
              <a:t>4/22/2025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165EC17-E8FB-4710-9BBD-EF864587C9AC}" type="datetime1">
              <a:rPr lang="en-US" smtClean="0"/>
              <a:t>4/22/2025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CBAE7A35-FE22-496E-99E7-69312154ECCF}" type="datetime1">
              <a:rPr lang="en-US" smtClean="0"/>
              <a:t>4/22/2025</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462B406-DB6F-AA1F-2D0E-776D6B85B182}"/>
              </a:ext>
            </a:extLst>
          </p:cNvPr>
          <p:cNvSpPr>
            <a:spLocks noGrp="1"/>
          </p:cNvSpPr>
          <p:nvPr>
            <p:ph type="subTitle" idx="1"/>
          </p:nvPr>
        </p:nvSpPr>
        <p:spPr>
          <a:xfrm>
            <a:off x="836710" y="4254760"/>
            <a:ext cx="8273208" cy="1217919"/>
          </a:xfrm>
        </p:spPr>
        <p:txBody>
          <a:bodyPr>
            <a:normAutofit/>
          </a:bodyPr>
          <a:lstStyle/>
          <a:p>
            <a:r>
              <a:rPr lang="en-US" sz="2000" b="1" dirty="0">
                <a:solidFill>
                  <a:schemeClr val="tx1"/>
                </a:solidFill>
                <a:latin typeface="Lexend Black" panose="020B0604020202020204" charset="0"/>
              </a:rPr>
              <a:t>Team Members:				Project Guidance:</a:t>
            </a:r>
          </a:p>
          <a:p>
            <a:r>
              <a:rPr lang="en-US" sz="2000" b="1" dirty="0">
                <a:solidFill>
                  <a:schemeClr val="tx1"/>
                </a:solidFill>
                <a:latin typeface="Lexend Black" panose="020B0604020202020204" charset="0"/>
              </a:rPr>
              <a:t>Jeslyn Nivedhitha S (22x020)		Dr. S. Poomagal</a:t>
            </a:r>
            <a:br>
              <a:rPr lang="en-US" sz="2000" b="1" dirty="0">
                <a:solidFill>
                  <a:schemeClr val="tx1"/>
                </a:solidFill>
                <a:latin typeface="Lexend Black" panose="020B0604020202020204" charset="0"/>
              </a:rPr>
            </a:br>
            <a:r>
              <a:rPr lang="en-US" sz="2000" b="1" dirty="0">
                <a:solidFill>
                  <a:schemeClr val="tx1"/>
                </a:solidFill>
                <a:latin typeface="Lexend Black" panose="020B0604020202020204" charset="0"/>
              </a:rPr>
              <a:t>Richa Infanta J (22x037)</a:t>
            </a:r>
            <a:endParaRPr lang="en-IN" sz="2000" b="1" dirty="0">
              <a:solidFill>
                <a:schemeClr val="tx1"/>
              </a:solidFill>
              <a:latin typeface="Lexend Black" panose="020B0604020202020204" charset="0"/>
            </a:endParaRPr>
          </a:p>
        </p:txBody>
      </p:sp>
      <p:sp>
        <p:nvSpPr>
          <p:cNvPr id="4" name="Google Shape;495;p36">
            <a:extLst>
              <a:ext uri="{FF2B5EF4-FFF2-40B4-BE49-F238E27FC236}">
                <a16:creationId xmlns:a16="http://schemas.microsoft.com/office/drawing/2014/main" id="{336D7C37-B7DD-B5BA-9E60-5C6D24CBF22E}"/>
              </a:ext>
            </a:extLst>
          </p:cNvPr>
          <p:cNvSpPr txBox="1">
            <a:spLocks noGrp="1"/>
          </p:cNvSpPr>
          <p:nvPr>
            <p:ph type="ctrTitle"/>
          </p:nvPr>
        </p:nvSpPr>
        <p:spPr>
          <a:xfrm>
            <a:off x="836710" y="1348662"/>
            <a:ext cx="8273208" cy="2080338"/>
          </a:xfrm>
          <a:prstGeom prst="rect">
            <a:avLst/>
          </a:prstGeom>
        </p:spPr>
        <p:txBody>
          <a:bodyPr spcFirstLastPara="1" wrap="square" lIns="91425" tIns="91425" rIns="91425" bIns="91425" anchor="b" anchorCtr="0">
            <a:noAutofit/>
          </a:bodyPr>
          <a:lstStyle/>
          <a:p>
            <a:pPr>
              <a:lnSpc>
                <a:spcPct val="107000"/>
              </a:lnSpc>
              <a:spcAft>
                <a:spcPts val="800"/>
              </a:spcAft>
            </a:pPr>
            <a:r>
              <a:rPr lang="en-IN" sz="4500" b="1" kern="0" dirty="0">
                <a:solidFill>
                  <a:schemeClr val="tx1"/>
                </a:solidFill>
                <a:effectLst/>
                <a:latin typeface="Lexend Black" panose="020B0604020202020204" charset="0"/>
                <a:ea typeface="Times New Roman" panose="02020603050405020304" pitchFamily="18" charset="0"/>
                <a:cs typeface="Times New Roman" panose="02020603050405020304" pitchFamily="18" charset="0"/>
              </a:rPr>
              <a:t>Analysis of Cognitive Behavioural Patterns Among Students Using Data Analytics</a:t>
            </a:r>
            <a:endParaRPr lang="en-IN" sz="4500" kern="100" dirty="0">
              <a:solidFill>
                <a:schemeClr val="tx1"/>
              </a:solidFill>
              <a:effectLst/>
              <a:latin typeface="Lexend Black" panose="020B0604020202020204" charset="0"/>
              <a:ea typeface="Calibri" panose="020F050202020403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6E81C5A6-B84C-0625-A79C-B983D75DE8AB}"/>
              </a:ext>
            </a:extLst>
          </p:cNvPr>
          <p:cNvSpPr>
            <a:spLocks noGrp="1"/>
          </p:cNvSpPr>
          <p:nvPr>
            <p:ph type="sldNum" sz="quarter" idx="12"/>
          </p:nvPr>
        </p:nvSpPr>
        <p:spPr/>
        <p:txBody>
          <a:bodyPr/>
          <a:lstStyle/>
          <a:p>
            <a:fld id="{4FAB73BC-B049-4115-A692-8D63A059BFB8}" type="slidenum">
              <a:rPr lang="en-US" sz="2000" smtClean="0"/>
              <a:pPr/>
              <a:t>1</a:t>
            </a:fld>
            <a:endParaRPr lang="en-US" sz="2000" dirty="0"/>
          </a:p>
        </p:txBody>
      </p:sp>
    </p:spTree>
    <p:extLst>
      <p:ext uri="{BB962C8B-B14F-4D97-AF65-F5344CB8AC3E}">
        <p14:creationId xmlns:p14="http://schemas.microsoft.com/office/powerpoint/2010/main" val="1684893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D0068-568F-4705-760B-9B384B252208}"/>
              </a:ext>
            </a:extLst>
          </p:cNvPr>
          <p:cNvSpPr>
            <a:spLocks noGrp="1"/>
          </p:cNvSpPr>
          <p:nvPr>
            <p:ph type="title"/>
          </p:nvPr>
        </p:nvSpPr>
        <p:spPr/>
        <p:txBody>
          <a:bodyPr>
            <a:normAutofit/>
          </a:bodyPr>
          <a:lstStyle/>
          <a:p>
            <a:pPr algn="ctr"/>
            <a:r>
              <a:rPr lang="en-US" sz="4500" b="1" dirty="0">
                <a:solidFill>
                  <a:schemeClr val="tx1"/>
                </a:solidFill>
                <a:latin typeface="Lexend Black" panose="020B0604020202020204" charset="0"/>
              </a:rPr>
              <a:t>AGENDA</a:t>
            </a:r>
            <a:endParaRPr lang="en-IN" sz="4500" b="1" dirty="0">
              <a:solidFill>
                <a:schemeClr val="tx1"/>
              </a:solidFill>
              <a:latin typeface="Lexend Black" panose="020B0604020202020204" charset="0"/>
            </a:endParaRPr>
          </a:p>
        </p:txBody>
      </p:sp>
      <p:sp>
        <p:nvSpPr>
          <p:cNvPr id="3" name="Subtitle 2">
            <a:extLst>
              <a:ext uri="{FF2B5EF4-FFF2-40B4-BE49-F238E27FC236}">
                <a16:creationId xmlns:a16="http://schemas.microsoft.com/office/drawing/2014/main" id="{0325DE9B-09DE-3644-91AA-FA984A414092}"/>
              </a:ext>
            </a:extLst>
          </p:cNvPr>
          <p:cNvSpPr txBox="1">
            <a:spLocks/>
          </p:cNvSpPr>
          <p:nvPr/>
        </p:nvSpPr>
        <p:spPr>
          <a:xfrm>
            <a:off x="4421712" y="1272055"/>
            <a:ext cx="6485773" cy="3607854"/>
          </a:xfrm>
          <a:prstGeom prst="rect">
            <a:avLst/>
          </a:prstGeom>
        </p:spPr>
        <p:txBody>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514350" indent="-514350">
              <a:buAutoNum type="arabicPlain"/>
            </a:pPr>
            <a:r>
              <a:rPr lang="en-US" sz="3200" dirty="0">
                <a:solidFill>
                  <a:schemeClr val="tx1"/>
                </a:solidFill>
                <a:latin typeface="Lexend Black" panose="020B0604020202020204" charset="0"/>
              </a:rPr>
              <a:t>Abstract</a:t>
            </a:r>
            <a:endParaRPr lang="en-IN" sz="3200" dirty="0">
              <a:solidFill>
                <a:schemeClr val="tx1"/>
              </a:solidFill>
              <a:latin typeface="Lexend Black" panose="020B0604020202020204" charset="0"/>
            </a:endParaRPr>
          </a:p>
          <a:p>
            <a:pPr marL="514350" indent="-514350">
              <a:buAutoNum type="arabicPlain"/>
            </a:pPr>
            <a:r>
              <a:rPr lang="en-IN" sz="3200" dirty="0">
                <a:solidFill>
                  <a:schemeClr val="tx1"/>
                </a:solidFill>
                <a:latin typeface="Lexend Black" panose="020B0604020202020204" charset="0"/>
              </a:rPr>
              <a:t>Related Work</a:t>
            </a:r>
          </a:p>
          <a:p>
            <a:pPr marL="514350" indent="-514350">
              <a:buAutoNum type="arabicPlain"/>
            </a:pPr>
            <a:r>
              <a:rPr lang="en-IN" sz="3200" dirty="0">
                <a:solidFill>
                  <a:schemeClr val="tx1"/>
                </a:solidFill>
                <a:latin typeface="Lexend Black" panose="020B0604020202020204" charset="0"/>
              </a:rPr>
              <a:t>Methodology</a:t>
            </a:r>
          </a:p>
          <a:p>
            <a:pPr marL="514350" indent="-514350">
              <a:buAutoNum type="arabicPlain"/>
            </a:pPr>
            <a:r>
              <a:rPr lang="en-IN" sz="3200" dirty="0">
                <a:solidFill>
                  <a:schemeClr val="tx1"/>
                </a:solidFill>
                <a:latin typeface="Lexend Black" panose="020B0604020202020204" charset="0"/>
              </a:rPr>
              <a:t>Experimental Analysis and Results</a:t>
            </a:r>
          </a:p>
          <a:p>
            <a:pPr marL="514350" indent="-514350">
              <a:buAutoNum type="arabicPlain"/>
            </a:pPr>
            <a:r>
              <a:rPr lang="en-IN" sz="3200" dirty="0">
                <a:solidFill>
                  <a:schemeClr val="tx1"/>
                </a:solidFill>
                <a:latin typeface="Lexend Black" panose="020B0604020202020204" charset="0"/>
              </a:rPr>
              <a:t>Conclusion</a:t>
            </a:r>
          </a:p>
          <a:p>
            <a:pPr marL="514350" indent="-514350">
              <a:buAutoNum type="arabicPlain"/>
            </a:pPr>
            <a:r>
              <a:rPr lang="en-IN" sz="3200" dirty="0">
                <a:solidFill>
                  <a:schemeClr val="tx1"/>
                </a:solidFill>
                <a:latin typeface="Lexend Black" panose="020B0604020202020204" charset="0"/>
              </a:rPr>
              <a:t>References</a:t>
            </a:r>
          </a:p>
          <a:p>
            <a:pPr marL="514350" indent="-514350">
              <a:buAutoNum type="arabicPlain"/>
            </a:pPr>
            <a:endParaRPr lang="en-IN" sz="3200" dirty="0">
              <a:solidFill>
                <a:schemeClr val="tx1"/>
              </a:solidFill>
              <a:latin typeface="Lexend Black" panose="020B0604020202020204" charset="0"/>
            </a:endParaRPr>
          </a:p>
          <a:p>
            <a:pPr marL="514350" indent="-514350">
              <a:buAutoNum type="arabicPlain"/>
            </a:pPr>
            <a:endParaRPr lang="en-US" sz="3200" dirty="0">
              <a:solidFill>
                <a:schemeClr val="tx1"/>
              </a:solidFill>
              <a:latin typeface="Lexend Black" panose="020B0604020202020204" charset="0"/>
            </a:endParaRPr>
          </a:p>
        </p:txBody>
      </p:sp>
      <p:sp>
        <p:nvSpPr>
          <p:cNvPr id="4" name="Slide Number Placeholder 3">
            <a:extLst>
              <a:ext uri="{FF2B5EF4-FFF2-40B4-BE49-F238E27FC236}">
                <a16:creationId xmlns:a16="http://schemas.microsoft.com/office/drawing/2014/main" id="{616CD92E-E904-210A-8069-CCDD18A92669}"/>
              </a:ext>
            </a:extLst>
          </p:cNvPr>
          <p:cNvSpPr>
            <a:spLocks noGrp="1"/>
          </p:cNvSpPr>
          <p:nvPr>
            <p:ph type="sldNum" sz="quarter" idx="12"/>
          </p:nvPr>
        </p:nvSpPr>
        <p:spPr/>
        <p:txBody>
          <a:bodyPr/>
          <a:lstStyle/>
          <a:p>
            <a:fld id="{4FAB73BC-B049-4115-A692-8D63A059BFB8}" type="slidenum">
              <a:rPr lang="en-US" sz="2000" smtClean="0"/>
              <a:pPr/>
              <a:t>2</a:t>
            </a:fld>
            <a:endParaRPr lang="en-US" sz="2000" dirty="0"/>
          </a:p>
        </p:txBody>
      </p:sp>
    </p:spTree>
    <p:extLst>
      <p:ext uri="{BB962C8B-B14F-4D97-AF65-F5344CB8AC3E}">
        <p14:creationId xmlns:p14="http://schemas.microsoft.com/office/powerpoint/2010/main" val="1710615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7931AFAE-E578-E509-3767-D4A599F4F4ED}"/>
              </a:ext>
            </a:extLst>
          </p:cNvPr>
          <p:cNvSpPr txBox="1">
            <a:spLocks/>
          </p:cNvSpPr>
          <p:nvPr/>
        </p:nvSpPr>
        <p:spPr>
          <a:xfrm>
            <a:off x="237930" y="912346"/>
            <a:ext cx="8504853" cy="5068575"/>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200"/>
              </a:spcBef>
              <a:buClr>
                <a:schemeClr val="accent1"/>
              </a:buClr>
              <a:buFont typeface="Wingdings 2" pitchFamily="18" charset="2"/>
              <a:buNone/>
              <a:defRPr sz="2200" kern="1200" cap="none" spc="0" baseline="0">
                <a:solidFill>
                  <a:schemeClr val="accent1">
                    <a:lumMod val="20000"/>
                    <a:lumOff val="80000"/>
                  </a:schemeClr>
                </a:solidFill>
                <a:latin typeface="+mn-lt"/>
                <a:ea typeface="+mn-ea"/>
                <a:cs typeface="+mn-cs"/>
              </a:defRPr>
            </a:lvl1pPr>
            <a:lvl2pPr marL="457200" indent="0" algn="ctr" defTabSz="914400" rtl="0" eaLnBrk="1" latinLnBrk="0" hangingPunct="1">
              <a:lnSpc>
                <a:spcPct val="90000"/>
              </a:lnSpc>
              <a:spcBef>
                <a:spcPts val="250"/>
              </a:spcBef>
              <a:spcAft>
                <a:spcPts val="250"/>
              </a:spcAft>
              <a:buClr>
                <a:schemeClr val="accent1"/>
              </a:buClr>
              <a:buFont typeface="Wingdings 2" pitchFamily="18" charset="2"/>
              <a:buNone/>
              <a:defRPr sz="2200" kern="1200">
                <a:solidFill>
                  <a:schemeClr val="tx1">
                    <a:lumMod val="65000"/>
                    <a:lumOff val="35000"/>
                  </a:schemeClr>
                </a:solidFill>
                <a:latin typeface="+mn-lt"/>
                <a:ea typeface="+mn-ea"/>
                <a:cs typeface="+mn-cs"/>
              </a:defRPr>
            </a:lvl2pPr>
            <a:lvl3pPr marL="914400" indent="0" algn="ctr" defTabSz="914400" rtl="0" eaLnBrk="1" latinLnBrk="0" hangingPunct="1">
              <a:lnSpc>
                <a:spcPct val="90000"/>
              </a:lnSpc>
              <a:spcBef>
                <a:spcPts val="250"/>
              </a:spcBef>
              <a:spcAft>
                <a:spcPts val="250"/>
              </a:spcAft>
              <a:buClr>
                <a:schemeClr val="accent1"/>
              </a:buClr>
              <a:buFont typeface="Wingdings 2" pitchFamily="18" charset="2"/>
              <a:buNone/>
              <a:defRPr sz="2200" kern="1200">
                <a:solidFill>
                  <a:schemeClr val="tx1">
                    <a:lumMod val="65000"/>
                    <a:lumOff val="35000"/>
                  </a:schemeClr>
                </a:solidFill>
                <a:latin typeface="+mn-lt"/>
                <a:ea typeface="+mn-ea"/>
                <a:cs typeface="+mn-cs"/>
              </a:defRPr>
            </a:lvl3pPr>
            <a:lvl4pPr marL="13716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4pPr>
            <a:lvl5pPr marL="18288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5pPr>
            <a:lvl6pPr marL="22860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6pPr>
            <a:lvl7pPr marL="27432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7pPr>
            <a:lvl8pPr marL="32004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8pPr>
            <a:lvl9pPr marL="36576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9pPr>
          </a:lstStyle>
          <a:p>
            <a:pPr algn="just"/>
            <a:r>
              <a:rPr lang="en-IN" b="1" dirty="0">
                <a:solidFill>
                  <a:schemeClr val="tx1"/>
                </a:solidFill>
                <a:latin typeface="Lexend Black" panose="020B0604020202020204" charset="0"/>
              </a:rPr>
              <a:t>Objective:</a:t>
            </a:r>
          </a:p>
          <a:p>
            <a:pPr marL="742950" lvl="1" indent="-285750" algn="just">
              <a:buFont typeface="Arial" panose="020B0604020202020204" pitchFamily="34" charset="0"/>
              <a:buChar char="•"/>
            </a:pPr>
            <a:r>
              <a:rPr lang="en-IN" sz="2000" dirty="0">
                <a:solidFill>
                  <a:schemeClr val="tx1"/>
                </a:solidFill>
                <a:latin typeface="Lexend Black" panose="020B0604020202020204" charset="0"/>
              </a:rPr>
              <a:t>-&gt;  Analyse students' cognitive-behavioural patterns using data analytics.</a:t>
            </a:r>
          </a:p>
          <a:p>
            <a:pPr marL="742950" lvl="1" indent="-285750" algn="just">
              <a:buFont typeface="Arial" panose="020B0604020202020204" pitchFamily="34" charset="0"/>
              <a:buChar char="•"/>
            </a:pPr>
            <a:r>
              <a:rPr lang="en-IN" sz="2000" dirty="0">
                <a:solidFill>
                  <a:schemeClr val="tx1"/>
                </a:solidFill>
                <a:latin typeface="Lexend Black" panose="020B0604020202020204" charset="0"/>
              </a:rPr>
              <a:t>-&gt; Identify thought distortions linked to Cognitive Behavioural Therapy (CBT).</a:t>
            </a:r>
          </a:p>
          <a:p>
            <a:pPr marL="742950" lvl="1" indent="-285750" algn="just">
              <a:buFont typeface="Arial" panose="020B0604020202020204" pitchFamily="34" charset="0"/>
              <a:buChar char="•"/>
            </a:pPr>
            <a:r>
              <a:rPr lang="en-IN" sz="2000" dirty="0">
                <a:solidFill>
                  <a:schemeClr val="tx1"/>
                </a:solidFill>
                <a:latin typeface="Lexend Black" panose="020B0604020202020204" charset="0"/>
              </a:rPr>
              <a:t>-&gt;  Assess anxiety and depression levels.</a:t>
            </a:r>
          </a:p>
          <a:p>
            <a:pPr marL="742950" lvl="1" indent="-285750" algn="just">
              <a:buFont typeface="Arial" panose="020B0604020202020204" pitchFamily="34" charset="0"/>
              <a:buChar char="•"/>
            </a:pPr>
            <a:endParaRPr lang="en-IN" sz="2000" dirty="0">
              <a:solidFill>
                <a:schemeClr val="tx1"/>
              </a:solidFill>
              <a:latin typeface="Lexend Black" panose="020B0604020202020204" charset="0"/>
            </a:endParaRPr>
          </a:p>
          <a:p>
            <a:pPr algn="just"/>
            <a:r>
              <a:rPr lang="en-IN" b="1" dirty="0">
                <a:solidFill>
                  <a:schemeClr val="tx1"/>
                </a:solidFill>
                <a:latin typeface="Lexend Black" panose="020B0604020202020204" charset="0"/>
              </a:rPr>
              <a:t>Problem Statement:</a:t>
            </a:r>
          </a:p>
          <a:p>
            <a:pPr marL="742950" lvl="1" indent="-285750" algn="just">
              <a:buFont typeface="Arial" panose="020B0604020202020204" pitchFamily="34" charset="0"/>
              <a:buChar char="•"/>
            </a:pPr>
            <a:r>
              <a:rPr lang="en-IN" sz="2000" dirty="0">
                <a:solidFill>
                  <a:schemeClr val="tx1"/>
                </a:solidFill>
                <a:latin typeface="Lexend Black" panose="020B0604020202020204" charset="0"/>
              </a:rPr>
              <a:t>-&gt; Cognitive distortions like overgeneralization and catastrophizing contribute to student anxiety and depression.</a:t>
            </a:r>
          </a:p>
          <a:p>
            <a:pPr marL="742950" lvl="1" indent="-285750" algn="just">
              <a:buFont typeface="Arial" panose="020B0604020202020204" pitchFamily="34" charset="0"/>
              <a:buChar char="•"/>
            </a:pPr>
            <a:r>
              <a:rPr lang="en-IN" sz="2000" dirty="0">
                <a:solidFill>
                  <a:schemeClr val="tx1"/>
                </a:solidFill>
                <a:latin typeface="Lexend Black" panose="020B0604020202020204" charset="0"/>
              </a:rPr>
              <a:t>-&gt;   Limited data-driven insights hinder effective intervention.</a:t>
            </a:r>
          </a:p>
          <a:p>
            <a:pPr marL="742950" lvl="1" indent="-285750" algn="just">
              <a:buFont typeface="Arial" panose="020B0604020202020204" pitchFamily="34" charset="0"/>
              <a:buChar char="•"/>
            </a:pPr>
            <a:r>
              <a:rPr lang="en-IN" sz="2000" dirty="0">
                <a:solidFill>
                  <a:schemeClr val="tx1"/>
                </a:solidFill>
                <a:latin typeface="Lexend Black" panose="020B0604020202020204" charset="0"/>
              </a:rPr>
              <a:t>-&gt; This study leverages analytics to quantify and categorize these patterns for better understanding.</a:t>
            </a:r>
          </a:p>
          <a:p>
            <a:endParaRPr lang="en-IN" sz="2000" dirty="0">
              <a:solidFill>
                <a:schemeClr val="tx1"/>
              </a:solidFill>
              <a:latin typeface="Lexend Black" panose="020B0604020202020204" charset="0"/>
            </a:endParaRPr>
          </a:p>
        </p:txBody>
      </p:sp>
      <p:sp>
        <p:nvSpPr>
          <p:cNvPr id="7" name="Title 1">
            <a:extLst>
              <a:ext uri="{FF2B5EF4-FFF2-40B4-BE49-F238E27FC236}">
                <a16:creationId xmlns:a16="http://schemas.microsoft.com/office/drawing/2014/main" id="{2999E69F-6D0D-6355-E6A0-993E64920DCB}"/>
              </a:ext>
            </a:extLst>
          </p:cNvPr>
          <p:cNvSpPr txBox="1">
            <a:spLocks/>
          </p:cNvSpPr>
          <p:nvPr/>
        </p:nvSpPr>
        <p:spPr>
          <a:xfrm>
            <a:off x="9275622" y="2947447"/>
            <a:ext cx="3028346" cy="96310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5900" b="0" kern="1200" spc="-100" baseline="0">
                <a:solidFill>
                  <a:schemeClr val="tx1">
                    <a:lumMod val="65000"/>
                    <a:lumOff val="35000"/>
                  </a:schemeClr>
                </a:solidFill>
                <a:latin typeface="+mj-lt"/>
                <a:ea typeface="+mj-ea"/>
                <a:cs typeface="+mj-cs"/>
              </a:defRPr>
            </a:lvl1pPr>
          </a:lstStyle>
          <a:p>
            <a:pPr algn="ctr"/>
            <a:r>
              <a:rPr lang="en-US" sz="4000" b="1" dirty="0">
                <a:solidFill>
                  <a:schemeClr val="tx1"/>
                </a:solidFill>
                <a:latin typeface="Lexend Black" panose="020B0604020202020204" charset="0"/>
              </a:rPr>
              <a:t>ABSTRACT</a:t>
            </a:r>
            <a:endParaRPr lang="en-IN" sz="4000" b="1" dirty="0">
              <a:solidFill>
                <a:schemeClr val="tx1"/>
              </a:solidFill>
              <a:latin typeface="Lexend Black" panose="020B0604020202020204" charset="0"/>
            </a:endParaRPr>
          </a:p>
        </p:txBody>
      </p:sp>
      <p:sp>
        <p:nvSpPr>
          <p:cNvPr id="8" name="Slide Number Placeholder 7">
            <a:extLst>
              <a:ext uri="{FF2B5EF4-FFF2-40B4-BE49-F238E27FC236}">
                <a16:creationId xmlns:a16="http://schemas.microsoft.com/office/drawing/2014/main" id="{16B577CB-C25D-F03E-115A-E09AE6C9F0B3}"/>
              </a:ext>
            </a:extLst>
          </p:cNvPr>
          <p:cNvSpPr>
            <a:spLocks noGrp="1"/>
          </p:cNvSpPr>
          <p:nvPr>
            <p:ph type="sldNum" sz="quarter" idx="12"/>
          </p:nvPr>
        </p:nvSpPr>
        <p:spPr/>
        <p:txBody>
          <a:bodyPr/>
          <a:lstStyle/>
          <a:p>
            <a:fld id="{4FAB73BC-B049-4115-A692-8D63A059BFB8}" type="slidenum">
              <a:rPr lang="en-US" sz="2000" smtClean="0"/>
              <a:pPr/>
              <a:t>3</a:t>
            </a:fld>
            <a:endParaRPr lang="en-US" sz="2000" dirty="0"/>
          </a:p>
        </p:txBody>
      </p:sp>
    </p:spTree>
    <p:extLst>
      <p:ext uri="{BB962C8B-B14F-4D97-AF65-F5344CB8AC3E}">
        <p14:creationId xmlns:p14="http://schemas.microsoft.com/office/powerpoint/2010/main" val="1776324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F2B8481-473A-F6CB-96F1-C86DF2643B00}"/>
              </a:ext>
            </a:extLst>
          </p:cNvPr>
          <p:cNvSpPr>
            <a:spLocks noGrp="1"/>
          </p:cNvSpPr>
          <p:nvPr>
            <p:ph type="body" idx="1"/>
          </p:nvPr>
        </p:nvSpPr>
        <p:spPr>
          <a:xfrm>
            <a:off x="3727579" y="136525"/>
            <a:ext cx="7833050" cy="5992306"/>
          </a:xfrm>
        </p:spPr>
        <p:txBody>
          <a:bodyPr>
            <a:noAutofit/>
          </a:bodyPr>
          <a:lstStyle/>
          <a:p>
            <a:pPr algn="just">
              <a:lnSpc>
                <a:spcPct val="150000"/>
              </a:lnSpc>
            </a:pPr>
            <a:r>
              <a:rPr lang="en-IN" sz="2000" i="1" dirty="0">
                <a:solidFill>
                  <a:schemeClr val="tx1"/>
                </a:solidFill>
                <a:latin typeface="Lexend Black" panose="020B0604020202020204" charset="0"/>
              </a:rPr>
              <a:t>Cost-Effectiveness of Internet-supported Cognitive </a:t>
            </a:r>
            <a:r>
              <a:rPr lang="en-IN" sz="2000" i="1" dirty="0" err="1">
                <a:solidFill>
                  <a:schemeClr val="tx1"/>
                </a:solidFill>
                <a:latin typeface="Lexend Black" panose="020B0604020202020204" charset="0"/>
              </a:rPr>
              <a:t>Behavioral</a:t>
            </a:r>
            <a:r>
              <a:rPr lang="en-IN" sz="2000" i="1" dirty="0">
                <a:solidFill>
                  <a:schemeClr val="tx1"/>
                </a:solidFill>
                <a:latin typeface="Lexend Black" panose="020B0604020202020204" charset="0"/>
              </a:rPr>
              <a:t> Therapy for University Students with Anxiety Symptoms: A Markov Model Analysis</a:t>
            </a:r>
          </a:p>
          <a:p>
            <a:pPr algn="just">
              <a:lnSpc>
                <a:spcPct val="150000"/>
              </a:lnSpc>
            </a:pPr>
            <a:endParaRPr lang="en-IN" sz="2000" dirty="0">
              <a:solidFill>
                <a:schemeClr val="tx1"/>
              </a:solidFill>
              <a:latin typeface="Lexend Black" panose="020B0604020202020204" charset="0"/>
            </a:endParaRPr>
          </a:p>
          <a:p>
            <a:pPr lvl="1" eaLnBrk="0" fontAlgn="base" hangingPunct="0">
              <a:lnSpc>
                <a:spcPct val="150000"/>
              </a:lnSpc>
              <a:spcBef>
                <a:spcPct val="0"/>
              </a:spcBef>
              <a:spcAft>
                <a:spcPct val="0"/>
              </a:spcAft>
              <a:buClrTx/>
              <a:buFontTx/>
              <a:buChar char="•"/>
            </a:pPr>
            <a:r>
              <a:rPr kumimoji="0" lang="en-US" altLang="en-US" b="0" i="0" u="none" strike="noStrike" cap="none" normalizeH="0" baseline="0" dirty="0">
                <a:ln>
                  <a:noFill/>
                </a:ln>
                <a:solidFill>
                  <a:schemeClr val="tx1"/>
                </a:solidFill>
                <a:effectLst/>
                <a:latin typeface="Lexend Black" panose="020B0604020202020204"/>
              </a:rPr>
              <a:t>The study aimed to assess whether guided low-intensity internet-based CBT (</a:t>
            </a:r>
            <a:r>
              <a:rPr kumimoji="0" lang="en-US" altLang="en-US" b="0" i="0" u="none" strike="noStrike" cap="none" normalizeH="0" baseline="0" dirty="0" err="1">
                <a:ln>
                  <a:noFill/>
                </a:ln>
                <a:solidFill>
                  <a:schemeClr val="tx1"/>
                </a:solidFill>
                <a:effectLst/>
                <a:latin typeface="Lexend Black" panose="020B0604020202020204"/>
              </a:rPr>
              <a:t>i</a:t>
            </a:r>
            <a:r>
              <a:rPr kumimoji="0" lang="en-US" altLang="en-US" b="0" i="0" u="none" strike="noStrike" cap="none" normalizeH="0" baseline="0" dirty="0">
                <a:ln>
                  <a:noFill/>
                </a:ln>
                <a:solidFill>
                  <a:schemeClr val="tx1"/>
                </a:solidFill>
                <a:effectLst/>
                <a:latin typeface="Lexend Black" panose="020B0604020202020204"/>
              </a:rPr>
              <a:t>-CBT) is cost-effective compared to traditional face-to-face CBT (f-CBT) for university students with mild anxiety symptoms in Hong Kong.</a:t>
            </a:r>
          </a:p>
          <a:p>
            <a:pPr lvl="1" eaLnBrk="0" fontAlgn="base" hangingPunct="0">
              <a:lnSpc>
                <a:spcPct val="150000"/>
              </a:lnSpc>
              <a:spcBef>
                <a:spcPct val="0"/>
              </a:spcBef>
              <a:spcAft>
                <a:spcPct val="0"/>
              </a:spcAft>
              <a:buClrTx/>
              <a:buFontTx/>
              <a:buChar char="•"/>
            </a:pPr>
            <a:r>
              <a:rPr kumimoji="0" lang="en-US" altLang="en-US" b="0" i="0" u="none" strike="noStrike" cap="none" normalizeH="0" baseline="0" dirty="0">
                <a:ln>
                  <a:noFill/>
                </a:ln>
                <a:solidFill>
                  <a:schemeClr val="tx1"/>
                </a:solidFill>
                <a:effectLst/>
                <a:latin typeface="Lexend Black" panose="020B0604020202020204"/>
              </a:rPr>
              <a:t>A five-year Markov model was used with inputs from literature and local data to compare total costs and QALYs between </a:t>
            </a:r>
            <a:r>
              <a:rPr kumimoji="0" lang="en-US" altLang="en-US" b="0" i="0" u="none" strike="noStrike" cap="none" normalizeH="0" baseline="0" dirty="0" err="1">
                <a:ln>
                  <a:noFill/>
                </a:ln>
                <a:solidFill>
                  <a:schemeClr val="tx1"/>
                </a:solidFill>
                <a:effectLst/>
                <a:latin typeface="Lexend Black" panose="020B0604020202020204"/>
              </a:rPr>
              <a:t>i</a:t>
            </a:r>
            <a:r>
              <a:rPr kumimoji="0" lang="en-US" altLang="en-US" b="0" i="0" u="none" strike="noStrike" cap="none" normalizeH="0" baseline="0" dirty="0">
                <a:ln>
                  <a:noFill/>
                </a:ln>
                <a:solidFill>
                  <a:schemeClr val="tx1"/>
                </a:solidFill>
                <a:effectLst/>
                <a:latin typeface="Lexend Black" panose="020B0604020202020204"/>
              </a:rPr>
              <a:t>-CBT and f-CBT; sensitivity analyses tested robustness.</a:t>
            </a:r>
          </a:p>
          <a:p>
            <a:pPr lvl="1" eaLnBrk="0" fontAlgn="base" hangingPunct="0">
              <a:lnSpc>
                <a:spcPct val="150000"/>
              </a:lnSpc>
              <a:spcBef>
                <a:spcPct val="0"/>
              </a:spcBef>
              <a:spcAft>
                <a:spcPct val="0"/>
              </a:spcAft>
              <a:buClrTx/>
              <a:buFontTx/>
              <a:buChar char="•"/>
            </a:pPr>
            <a:r>
              <a:rPr kumimoji="0" lang="en-US" altLang="en-US" b="0" i="0" u="none" strike="noStrike" cap="none" normalizeH="0" baseline="0" dirty="0" err="1">
                <a:ln>
                  <a:noFill/>
                </a:ln>
                <a:solidFill>
                  <a:schemeClr val="tx1"/>
                </a:solidFill>
                <a:effectLst/>
                <a:latin typeface="Lexend Black" panose="020B0604020202020204"/>
              </a:rPr>
              <a:t>i</a:t>
            </a:r>
            <a:r>
              <a:rPr kumimoji="0" lang="en-US" altLang="en-US" b="0" i="0" u="none" strike="noStrike" cap="none" normalizeH="0" baseline="0" dirty="0">
                <a:ln>
                  <a:noFill/>
                </a:ln>
                <a:solidFill>
                  <a:schemeClr val="tx1"/>
                </a:solidFill>
                <a:effectLst/>
                <a:latin typeface="Lexend Black" panose="020B0604020202020204"/>
              </a:rPr>
              <a:t>-CBT was found to be both more effective (higher QALYs) and less costly than f-CBT, and was cost-effective 99.9% of the time at the standard willingness-to-pay threshold.</a:t>
            </a:r>
          </a:p>
          <a:p>
            <a:pPr lvl="1" eaLnBrk="0" fontAlgn="base" hangingPunct="0">
              <a:lnSpc>
                <a:spcPct val="150000"/>
              </a:lnSpc>
              <a:spcBef>
                <a:spcPct val="0"/>
              </a:spcBef>
              <a:spcAft>
                <a:spcPct val="0"/>
              </a:spcAft>
              <a:buClrTx/>
              <a:buFontTx/>
              <a:buChar char="•"/>
            </a:pPr>
            <a:r>
              <a:rPr kumimoji="0" lang="en-US" altLang="en-US" b="0" i="0" u="none" strike="noStrike" cap="none" normalizeH="0" baseline="0" dirty="0">
                <a:ln>
                  <a:noFill/>
                </a:ln>
                <a:solidFill>
                  <a:schemeClr val="tx1"/>
                </a:solidFill>
                <a:effectLst/>
                <a:latin typeface="Lexend Black" panose="020B0604020202020204"/>
              </a:rPr>
              <a:t>The effectiveness of </a:t>
            </a:r>
            <a:r>
              <a:rPr kumimoji="0" lang="en-US" altLang="en-US" b="0" i="0" u="none" strike="noStrike" cap="none" normalizeH="0" baseline="0" dirty="0" err="1">
                <a:ln>
                  <a:noFill/>
                </a:ln>
                <a:solidFill>
                  <a:schemeClr val="tx1"/>
                </a:solidFill>
                <a:effectLst/>
                <a:latin typeface="Lexend Black" panose="020B0604020202020204"/>
              </a:rPr>
              <a:t>i</a:t>
            </a:r>
            <a:r>
              <a:rPr kumimoji="0" lang="en-US" altLang="en-US" b="0" i="0" u="none" strike="noStrike" cap="none" normalizeH="0" baseline="0" dirty="0">
                <a:ln>
                  <a:noFill/>
                </a:ln>
                <a:solidFill>
                  <a:schemeClr val="tx1"/>
                </a:solidFill>
                <a:effectLst/>
                <a:latin typeface="Lexend Black" panose="020B0604020202020204"/>
              </a:rPr>
              <a:t>-CBT depended heavily on student acceptance and adherence; results are based on modeled data and future work should focus on real-world evaluations.</a:t>
            </a:r>
          </a:p>
          <a:p>
            <a:pPr algn="just">
              <a:lnSpc>
                <a:spcPct val="150000"/>
              </a:lnSpc>
              <a:buFont typeface="Arial" panose="020B0604020202020204" pitchFamily="34" charset="0"/>
              <a:buChar char="•"/>
            </a:pPr>
            <a:endParaRPr lang="en-IN" sz="2000" dirty="0">
              <a:solidFill>
                <a:schemeClr val="tx1"/>
              </a:solidFill>
              <a:latin typeface="Lexend Black" panose="020B0604020202020204" charset="0"/>
            </a:endParaRPr>
          </a:p>
          <a:p>
            <a:endParaRPr lang="en-IN" dirty="0">
              <a:solidFill>
                <a:schemeClr val="tx1"/>
              </a:solidFill>
              <a:latin typeface="Lexend Black" panose="020B0604020202020204" charset="0"/>
            </a:endParaRPr>
          </a:p>
        </p:txBody>
      </p:sp>
      <p:sp>
        <p:nvSpPr>
          <p:cNvPr id="4" name="Title 1">
            <a:extLst>
              <a:ext uri="{FF2B5EF4-FFF2-40B4-BE49-F238E27FC236}">
                <a16:creationId xmlns:a16="http://schemas.microsoft.com/office/drawing/2014/main" id="{C4E8C48E-79A7-EFF6-4867-094FE4FC5815}"/>
              </a:ext>
            </a:extLst>
          </p:cNvPr>
          <p:cNvSpPr txBox="1">
            <a:spLocks/>
          </p:cNvSpPr>
          <p:nvPr/>
        </p:nvSpPr>
        <p:spPr>
          <a:xfrm>
            <a:off x="122291" y="2647840"/>
            <a:ext cx="3162084" cy="1289677"/>
          </a:xfrm>
          <a:prstGeom prst="rect">
            <a:avLst/>
          </a:prstGeom>
        </p:spPr>
        <p:txBody>
          <a:bodyPr vert="horz" lIns="91440" tIns="45720" rIns="91440" bIns="45720" rtlCol="0" anchor="b">
            <a:normAutofit lnSpcReduction="10000"/>
          </a:bodyPr>
          <a:lstStyle>
            <a:lvl1pPr algn="l" defTabSz="914400" rtl="0" eaLnBrk="1" latinLnBrk="0" hangingPunct="1">
              <a:lnSpc>
                <a:spcPct val="90000"/>
              </a:lnSpc>
              <a:spcBef>
                <a:spcPct val="0"/>
              </a:spcBef>
              <a:buNone/>
              <a:defRPr sz="5900" b="0" kern="1200" spc="-100" baseline="0">
                <a:solidFill>
                  <a:schemeClr val="tx1">
                    <a:lumMod val="65000"/>
                    <a:lumOff val="35000"/>
                  </a:schemeClr>
                </a:solidFill>
                <a:latin typeface="+mj-lt"/>
                <a:ea typeface="+mj-ea"/>
                <a:cs typeface="+mj-cs"/>
              </a:defRPr>
            </a:lvl1pPr>
          </a:lstStyle>
          <a:p>
            <a:pPr algn="ctr"/>
            <a:r>
              <a:rPr lang="en-US" sz="4500" b="1" dirty="0">
                <a:solidFill>
                  <a:schemeClr val="tx1"/>
                </a:solidFill>
                <a:latin typeface="Lexend Black" panose="020B0604020202020204" charset="0"/>
              </a:rPr>
              <a:t>RELATED</a:t>
            </a:r>
            <a:br>
              <a:rPr lang="en-US" sz="4500" b="1" dirty="0">
                <a:solidFill>
                  <a:schemeClr val="tx1"/>
                </a:solidFill>
                <a:latin typeface="Lexend Black" panose="020B0604020202020204" charset="0"/>
              </a:rPr>
            </a:br>
            <a:r>
              <a:rPr lang="en-US" sz="4500" b="1" dirty="0">
                <a:solidFill>
                  <a:schemeClr val="tx1"/>
                </a:solidFill>
                <a:latin typeface="Lexend Black" panose="020B0604020202020204" charset="0"/>
              </a:rPr>
              <a:t>WORK</a:t>
            </a:r>
            <a:endParaRPr lang="en-IN" sz="4500" b="1" dirty="0">
              <a:solidFill>
                <a:schemeClr val="tx1"/>
              </a:solidFill>
              <a:latin typeface="Lexend Black" panose="020B0604020202020204" charset="0"/>
            </a:endParaRPr>
          </a:p>
        </p:txBody>
      </p:sp>
      <p:sp>
        <p:nvSpPr>
          <p:cNvPr id="5" name="Slide Number Placeholder 4">
            <a:extLst>
              <a:ext uri="{FF2B5EF4-FFF2-40B4-BE49-F238E27FC236}">
                <a16:creationId xmlns:a16="http://schemas.microsoft.com/office/drawing/2014/main" id="{02127F2C-D0D6-D45D-D04D-2F26122D9F1D}"/>
              </a:ext>
            </a:extLst>
          </p:cNvPr>
          <p:cNvSpPr>
            <a:spLocks noGrp="1"/>
          </p:cNvSpPr>
          <p:nvPr>
            <p:ph type="sldNum" sz="quarter" idx="12"/>
          </p:nvPr>
        </p:nvSpPr>
        <p:spPr/>
        <p:txBody>
          <a:bodyPr/>
          <a:lstStyle/>
          <a:p>
            <a:fld id="{4FAB73BC-B049-4115-A692-8D63A059BFB8}" type="slidenum">
              <a:rPr lang="en-US" sz="2000" smtClean="0"/>
              <a:pPr/>
              <a:t>4</a:t>
            </a:fld>
            <a:endParaRPr lang="en-US" sz="2000" dirty="0"/>
          </a:p>
        </p:txBody>
      </p:sp>
    </p:spTree>
    <p:extLst>
      <p:ext uri="{BB962C8B-B14F-4D97-AF65-F5344CB8AC3E}">
        <p14:creationId xmlns:p14="http://schemas.microsoft.com/office/powerpoint/2010/main" val="1443620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31E46-1B9A-E0A3-D991-2C5D830B460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689FCEB-3A49-BFD6-B2A1-E6200EE583C8}"/>
              </a:ext>
            </a:extLst>
          </p:cNvPr>
          <p:cNvSpPr>
            <a:spLocks noGrp="1"/>
          </p:cNvSpPr>
          <p:nvPr>
            <p:ph type="body" idx="1"/>
          </p:nvPr>
        </p:nvSpPr>
        <p:spPr>
          <a:xfrm>
            <a:off x="3802224" y="136525"/>
            <a:ext cx="7833050" cy="5992306"/>
          </a:xfrm>
        </p:spPr>
        <p:txBody>
          <a:bodyPr>
            <a:noAutofit/>
          </a:bodyPr>
          <a:lstStyle/>
          <a:p>
            <a:pPr algn="just">
              <a:lnSpc>
                <a:spcPct val="150000"/>
              </a:lnSpc>
            </a:pPr>
            <a:r>
              <a:rPr lang="en-IN" sz="2000" i="1" dirty="0">
                <a:solidFill>
                  <a:schemeClr val="tx1"/>
                </a:solidFill>
                <a:latin typeface="Lexend Black" panose="020B0604020202020204" charset="0"/>
              </a:rPr>
              <a:t>CBT for Academic Burnout,  Procrastination, Self-handicapping </a:t>
            </a:r>
            <a:r>
              <a:rPr lang="en-IN" sz="2000" i="1" dirty="0" err="1">
                <a:solidFill>
                  <a:schemeClr val="tx1"/>
                </a:solidFill>
                <a:latin typeface="Lexend Black" panose="020B0604020202020204" charset="0"/>
              </a:rPr>
              <a:t>Behavior</a:t>
            </a:r>
            <a:r>
              <a:rPr lang="en-IN" sz="2000" i="1" dirty="0">
                <a:solidFill>
                  <a:schemeClr val="tx1"/>
                </a:solidFill>
                <a:latin typeface="Lexend Black" panose="020B0604020202020204" charset="0"/>
              </a:rPr>
              <a:t> and Test Anxiety : Random Control Trail</a:t>
            </a:r>
          </a:p>
          <a:p>
            <a:pPr algn="just">
              <a:lnSpc>
                <a:spcPct val="150000"/>
              </a:lnSpc>
            </a:pPr>
            <a:endParaRPr lang="en-IN" i="1" dirty="0">
              <a:solidFill>
                <a:schemeClr val="tx1"/>
              </a:solidFill>
              <a:latin typeface="Lexend Black" panose="020B0604020202020204" charset="0"/>
            </a:endParaRPr>
          </a:p>
          <a:p>
            <a:pPr lvl="1" eaLnBrk="0" fontAlgn="base" hangingPunct="0">
              <a:lnSpc>
                <a:spcPct val="150000"/>
              </a:lnSpc>
              <a:spcBef>
                <a:spcPct val="0"/>
              </a:spcBef>
              <a:spcAft>
                <a:spcPct val="0"/>
              </a:spcAft>
              <a:buClrTx/>
              <a:buFontTx/>
              <a:buChar char="•"/>
            </a:pPr>
            <a:r>
              <a:rPr kumimoji="0" lang="en-US" altLang="en-US" b="0" i="0" u="none" strike="noStrike" cap="none" normalizeH="0" baseline="0" dirty="0">
                <a:ln>
                  <a:noFill/>
                </a:ln>
                <a:solidFill>
                  <a:schemeClr val="tx1"/>
                </a:solidFill>
                <a:effectLst/>
                <a:latin typeface="Lexend Black" panose="020B0604020202020204"/>
              </a:rPr>
              <a:t>The study evaluated the impact of CBT on reducing emotional and academic problems among adolescents such as procrastination, burnout, self-handicapping, and test anxiety.</a:t>
            </a:r>
          </a:p>
          <a:p>
            <a:pPr lvl="1" eaLnBrk="0" fontAlgn="base" hangingPunct="0">
              <a:lnSpc>
                <a:spcPct val="150000"/>
              </a:lnSpc>
              <a:spcBef>
                <a:spcPct val="0"/>
              </a:spcBef>
              <a:spcAft>
                <a:spcPct val="0"/>
              </a:spcAft>
              <a:buClrTx/>
              <a:buFontTx/>
              <a:buChar char="•"/>
            </a:pPr>
            <a:r>
              <a:rPr kumimoji="0" lang="en-US" altLang="en-US" b="0" i="0" u="none" strike="noStrike" cap="none" normalizeH="0" baseline="0" dirty="0">
                <a:ln>
                  <a:noFill/>
                </a:ln>
                <a:solidFill>
                  <a:schemeClr val="tx1"/>
                </a:solidFill>
                <a:effectLst/>
                <a:latin typeface="Lexend Black" panose="020B0604020202020204"/>
              </a:rPr>
              <a:t>A randomized controlled trial was conducted with 129 participants in Pakistani schools; CBT was delivered over 6–8 sessions and compared to a waitlist control using repeated measures ANOVA.</a:t>
            </a:r>
          </a:p>
          <a:p>
            <a:pPr lvl="1" eaLnBrk="0" fontAlgn="base" hangingPunct="0">
              <a:lnSpc>
                <a:spcPct val="150000"/>
              </a:lnSpc>
              <a:spcBef>
                <a:spcPct val="0"/>
              </a:spcBef>
              <a:spcAft>
                <a:spcPct val="0"/>
              </a:spcAft>
              <a:buClrTx/>
              <a:buFontTx/>
              <a:buChar char="•"/>
            </a:pPr>
            <a:r>
              <a:rPr kumimoji="0" lang="en-US" altLang="en-US" b="0" i="0" u="none" strike="noStrike" cap="none" normalizeH="0" baseline="0" dirty="0">
                <a:ln>
                  <a:noFill/>
                </a:ln>
                <a:solidFill>
                  <a:schemeClr val="tx1"/>
                </a:solidFill>
                <a:effectLst/>
                <a:latin typeface="Lexend Black" panose="020B0604020202020204"/>
              </a:rPr>
              <a:t>CBT significantly reduced procrastination, test anxiety, and burnout, improved academic performance, and helped manage unrealistic parental expectations with large effect sizes.</a:t>
            </a:r>
          </a:p>
        </p:txBody>
      </p:sp>
      <p:sp>
        <p:nvSpPr>
          <p:cNvPr id="4" name="Title 1">
            <a:extLst>
              <a:ext uri="{FF2B5EF4-FFF2-40B4-BE49-F238E27FC236}">
                <a16:creationId xmlns:a16="http://schemas.microsoft.com/office/drawing/2014/main" id="{FB8EB0E1-98D2-1CCD-7892-A8340716B6BF}"/>
              </a:ext>
            </a:extLst>
          </p:cNvPr>
          <p:cNvSpPr txBox="1">
            <a:spLocks/>
          </p:cNvSpPr>
          <p:nvPr/>
        </p:nvSpPr>
        <p:spPr>
          <a:xfrm>
            <a:off x="122291" y="2647840"/>
            <a:ext cx="3162084" cy="1289677"/>
          </a:xfrm>
          <a:prstGeom prst="rect">
            <a:avLst/>
          </a:prstGeom>
        </p:spPr>
        <p:txBody>
          <a:bodyPr vert="horz" lIns="91440" tIns="45720" rIns="91440" bIns="45720" rtlCol="0" anchor="b">
            <a:normAutofit lnSpcReduction="10000"/>
          </a:bodyPr>
          <a:lstStyle>
            <a:lvl1pPr algn="l" defTabSz="914400" rtl="0" eaLnBrk="1" latinLnBrk="0" hangingPunct="1">
              <a:lnSpc>
                <a:spcPct val="90000"/>
              </a:lnSpc>
              <a:spcBef>
                <a:spcPct val="0"/>
              </a:spcBef>
              <a:buNone/>
              <a:defRPr sz="5900" b="0" kern="1200" spc="-100" baseline="0">
                <a:solidFill>
                  <a:schemeClr val="tx1">
                    <a:lumMod val="65000"/>
                    <a:lumOff val="35000"/>
                  </a:schemeClr>
                </a:solidFill>
                <a:latin typeface="+mj-lt"/>
                <a:ea typeface="+mj-ea"/>
                <a:cs typeface="+mj-cs"/>
              </a:defRPr>
            </a:lvl1pPr>
          </a:lstStyle>
          <a:p>
            <a:pPr algn="ctr"/>
            <a:r>
              <a:rPr lang="en-US" sz="4500" b="1" dirty="0">
                <a:solidFill>
                  <a:schemeClr val="tx1"/>
                </a:solidFill>
                <a:latin typeface="Lexend Black" panose="020B0604020202020204" charset="0"/>
              </a:rPr>
              <a:t>RELATED</a:t>
            </a:r>
            <a:br>
              <a:rPr lang="en-US" sz="4500" b="1" dirty="0">
                <a:solidFill>
                  <a:schemeClr val="tx1"/>
                </a:solidFill>
                <a:latin typeface="Lexend Black" panose="020B0604020202020204" charset="0"/>
              </a:rPr>
            </a:br>
            <a:r>
              <a:rPr lang="en-US" sz="4500" b="1" dirty="0">
                <a:solidFill>
                  <a:schemeClr val="tx1"/>
                </a:solidFill>
                <a:latin typeface="Lexend Black" panose="020B0604020202020204" charset="0"/>
              </a:rPr>
              <a:t>WORK</a:t>
            </a:r>
            <a:endParaRPr lang="en-IN" sz="4500" b="1" dirty="0">
              <a:solidFill>
                <a:schemeClr val="tx1"/>
              </a:solidFill>
              <a:latin typeface="Lexend Black" panose="020B0604020202020204" charset="0"/>
            </a:endParaRPr>
          </a:p>
        </p:txBody>
      </p:sp>
      <p:sp>
        <p:nvSpPr>
          <p:cNvPr id="5" name="Slide Number Placeholder 4">
            <a:extLst>
              <a:ext uri="{FF2B5EF4-FFF2-40B4-BE49-F238E27FC236}">
                <a16:creationId xmlns:a16="http://schemas.microsoft.com/office/drawing/2014/main" id="{28FB8A7A-5567-4378-3535-7DFF7BBBB775}"/>
              </a:ext>
            </a:extLst>
          </p:cNvPr>
          <p:cNvSpPr>
            <a:spLocks noGrp="1"/>
          </p:cNvSpPr>
          <p:nvPr>
            <p:ph type="sldNum" sz="quarter" idx="12"/>
          </p:nvPr>
        </p:nvSpPr>
        <p:spPr/>
        <p:txBody>
          <a:bodyPr/>
          <a:lstStyle/>
          <a:p>
            <a:fld id="{4FAB73BC-B049-4115-A692-8D63A059BFB8}" type="slidenum">
              <a:rPr lang="en-US" sz="2000" smtClean="0"/>
              <a:pPr/>
              <a:t>5</a:t>
            </a:fld>
            <a:endParaRPr lang="en-US" sz="2000" dirty="0"/>
          </a:p>
        </p:txBody>
      </p:sp>
    </p:spTree>
    <p:extLst>
      <p:ext uri="{BB962C8B-B14F-4D97-AF65-F5344CB8AC3E}">
        <p14:creationId xmlns:p14="http://schemas.microsoft.com/office/powerpoint/2010/main" val="3688206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98291-A308-37B7-E933-007E02E789E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E2EA13A-2C67-8831-56CA-32F62412A5FD}"/>
              </a:ext>
            </a:extLst>
          </p:cNvPr>
          <p:cNvSpPr>
            <a:spLocks noGrp="1"/>
          </p:cNvSpPr>
          <p:nvPr>
            <p:ph type="body" idx="1"/>
          </p:nvPr>
        </p:nvSpPr>
        <p:spPr>
          <a:xfrm>
            <a:off x="3802224" y="136525"/>
            <a:ext cx="7833050" cy="5992306"/>
          </a:xfrm>
        </p:spPr>
        <p:txBody>
          <a:bodyPr>
            <a:noAutofit/>
          </a:bodyPr>
          <a:lstStyle/>
          <a:p>
            <a:pPr algn="just">
              <a:lnSpc>
                <a:spcPct val="150000"/>
              </a:lnSpc>
            </a:pPr>
            <a:r>
              <a:rPr lang="en-IN" sz="2000" i="1" dirty="0">
                <a:solidFill>
                  <a:schemeClr val="tx1"/>
                </a:solidFill>
                <a:latin typeface="Lexend Black" panose="020B0604020202020204" charset="0"/>
              </a:rPr>
              <a:t>AI-Enhanced Cognitive </a:t>
            </a:r>
            <a:r>
              <a:rPr lang="en-IN" sz="2000" i="1" dirty="0" err="1">
                <a:solidFill>
                  <a:schemeClr val="tx1"/>
                </a:solidFill>
                <a:latin typeface="Lexend Black" panose="020B0604020202020204" charset="0"/>
              </a:rPr>
              <a:t>Behavioral</a:t>
            </a:r>
            <a:r>
              <a:rPr lang="en-IN" sz="2000" i="1" dirty="0">
                <a:solidFill>
                  <a:schemeClr val="tx1"/>
                </a:solidFill>
                <a:latin typeface="Lexend Black" panose="020B0604020202020204" charset="0"/>
              </a:rPr>
              <a:t> Therapy: Deep Learning and Large Language Models for Extracting Cognitive Pathways from Social Media Texts</a:t>
            </a:r>
          </a:p>
          <a:p>
            <a:pPr lvl="1" eaLnBrk="0" fontAlgn="base" hangingPunct="0">
              <a:lnSpc>
                <a:spcPct val="150000"/>
              </a:lnSpc>
              <a:spcBef>
                <a:spcPct val="0"/>
              </a:spcBef>
              <a:spcAft>
                <a:spcPct val="0"/>
              </a:spcAft>
              <a:buClrTx/>
              <a:buFontTx/>
              <a:buChar char="•"/>
            </a:pPr>
            <a:r>
              <a:rPr kumimoji="0" lang="en-US" altLang="en-US" b="0" i="0" u="none" strike="noStrike" cap="none" normalizeH="0" baseline="0" dirty="0">
                <a:ln>
                  <a:noFill/>
                </a:ln>
                <a:solidFill>
                  <a:schemeClr val="tx1"/>
                </a:solidFill>
                <a:effectLst/>
                <a:latin typeface="Lexend Black" panose="020B0604020202020204"/>
              </a:rPr>
              <a:t>The study investigates how deep learning and large language models (LLMs) can be used to extract cognitive pathways (Activating Event, Belief, Consequence, Disputation – ABCD model) from social media texts to support psychotherapists in CBT.</a:t>
            </a:r>
          </a:p>
          <a:p>
            <a:pPr lvl="1" eaLnBrk="0" fontAlgn="base" hangingPunct="0">
              <a:lnSpc>
                <a:spcPct val="150000"/>
              </a:lnSpc>
              <a:spcBef>
                <a:spcPct val="0"/>
              </a:spcBef>
              <a:spcAft>
                <a:spcPct val="0"/>
              </a:spcAft>
              <a:buClrTx/>
              <a:buFontTx/>
              <a:buChar char="•"/>
            </a:pPr>
            <a:r>
              <a:rPr kumimoji="0" lang="en-US" altLang="en-US" b="0" i="0" u="none" strike="noStrike" cap="none" normalizeH="0" baseline="0" dirty="0">
                <a:ln>
                  <a:noFill/>
                </a:ln>
                <a:solidFill>
                  <a:schemeClr val="tx1"/>
                </a:solidFill>
                <a:effectLst/>
                <a:latin typeface="Lexend Black" panose="020B0604020202020204"/>
              </a:rPr>
              <a:t>The research involved hierarchical text classification and text summarization using models like ERNIE 3.0 and PEGASUS, along with GPT-3.5 and GPT-4. A dataset of 555 social media posts was annotated by psychologists for training and testing.</a:t>
            </a:r>
          </a:p>
          <a:p>
            <a:pPr lvl="1" eaLnBrk="0" fontAlgn="base" hangingPunct="0">
              <a:lnSpc>
                <a:spcPct val="150000"/>
              </a:lnSpc>
              <a:spcBef>
                <a:spcPct val="0"/>
              </a:spcBef>
              <a:spcAft>
                <a:spcPct val="0"/>
              </a:spcAft>
              <a:buClrTx/>
              <a:buFontTx/>
              <a:buChar char="•"/>
            </a:pPr>
            <a:r>
              <a:rPr kumimoji="0" lang="en-US" altLang="en-US" b="0" i="0" u="none" strike="noStrike" cap="none" normalizeH="0" baseline="0" dirty="0">
                <a:ln>
                  <a:noFill/>
                </a:ln>
                <a:solidFill>
                  <a:schemeClr val="tx1"/>
                </a:solidFill>
                <a:effectLst/>
                <a:latin typeface="Lexend Black" panose="020B0604020202020204"/>
              </a:rPr>
              <a:t>ERNIE 3.0 achieved a micro-F1 score of 62.34% in hierarchical classification, outperforming LLMs which struggled with precision. However, GPT-4 excelled in summarization with higher ROUGE and BLEU scores, despite occasional hallucinations.</a:t>
            </a:r>
          </a:p>
          <a:p>
            <a:pPr algn="just">
              <a:lnSpc>
                <a:spcPct val="150000"/>
              </a:lnSpc>
            </a:pPr>
            <a:endParaRPr lang="en-IN" sz="1800" i="1" dirty="0">
              <a:solidFill>
                <a:schemeClr val="tx1"/>
              </a:solidFill>
              <a:latin typeface="Lexend Black" panose="020B0604020202020204"/>
            </a:endParaRPr>
          </a:p>
          <a:p>
            <a:pPr marL="342900" indent="-342900" algn="just">
              <a:lnSpc>
                <a:spcPct val="150000"/>
              </a:lnSpc>
              <a:buFont typeface="Arial" panose="020B0604020202020204" pitchFamily="34" charset="0"/>
              <a:buChar char="•"/>
            </a:pPr>
            <a:endParaRPr lang="en-IN" sz="2000" i="1" dirty="0">
              <a:solidFill>
                <a:schemeClr val="tx1"/>
              </a:solidFill>
              <a:latin typeface="Lexend Black" panose="020B0604020202020204" charset="0"/>
            </a:endParaRPr>
          </a:p>
          <a:p>
            <a:pPr algn="just">
              <a:lnSpc>
                <a:spcPct val="150000"/>
              </a:lnSpc>
            </a:pPr>
            <a:endParaRPr lang="en-IN" sz="2000" dirty="0">
              <a:solidFill>
                <a:schemeClr val="tx1"/>
              </a:solidFill>
              <a:latin typeface="Lexend Black" panose="020B0604020202020204" charset="0"/>
            </a:endParaRPr>
          </a:p>
        </p:txBody>
      </p:sp>
      <p:sp>
        <p:nvSpPr>
          <p:cNvPr id="4" name="Title 1">
            <a:extLst>
              <a:ext uri="{FF2B5EF4-FFF2-40B4-BE49-F238E27FC236}">
                <a16:creationId xmlns:a16="http://schemas.microsoft.com/office/drawing/2014/main" id="{2DC71837-314B-A6C8-179B-74991E4BD901}"/>
              </a:ext>
            </a:extLst>
          </p:cNvPr>
          <p:cNvSpPr txBox="1">
            <a:spLocks/>
          </p:cNvSpPr>
          <p:nvPr/>
        </p:nvSpPr>
        <p:spPr>
          <a:xfrm>
            <a:off x="122291" y="2647840"/>
            <a:ext cx="3162084" cy="1289677"/>
          </a:xfrm>
          <a:prstGeom prst="rect">
            <a:avLst/>
          </a:prstGeom>
        </p:spPr>
        <p:txBody>
          <a:bodyPr vert="horz" lIns="91440" tIns="45720" rIns="91440" bIns="45720" rtlCol="0" anchor="b">
            <a:normAutofit lnSpcReduction="10000"/>
          </a:bodyPr>
          <a:lstStyle>
            <a:lvl1pPr algn="l" defTabSz="914400" rtl="0" eaLnBrk="1" latinLnBrk="0" hangingPunct="1">
              <a:lnSpc>
                <a:spcPct val="90000"/>
              </a:lnSpc>
              <a:spcBef>
                <a:spcPct val="0"/>
              </a:spcBef>
              <a:buNone/>
              <a:defRPr sz="5900" b="0" kern="1200" spc="-100" baseline="0">
                <a:solidFill>
                  <a:schemeClr val="tx1">
                    <a:lumMod val="65000"/>
                    <a:lumOff val="35000"/>
                  </a:schemeClr>
                </a:solidFill>
                <a:latin typeface="+mj-lt"/>
                <a:ea typeface="+mj-ea"/>
                <a:cs typeface="+mj-cs"/>
              </a:defRPr>
            </a:lvl1pPr>
          </a:lstStyle>
          <a:p>
            <a:pPr algn="ctr"/>
            <a:r>
              <a:rPr lang="en-US" sz="4500" b="1" dirty="0">
                <a:solidFill>
                  <a:schemeClr val="tx1"/>
                </a:solidFill>
                <a:latin typeface="Lexend Black" panose="020B0604020202020204" charset="0"/>
              </a:rPr>
              <a:t>RELATED</a:t>
            </a:r>
            <a:br>
              <a:rPr lang="en-US" sz="4500" b="1" dirty="0">
                <a:solidFill>
                  <a:schemeClr val="tx1"/>
                </a:solidFill>
                <a:latin typeface="Lexend Black" panose="020B0604020202020204" charset="0"/>
              </a:rPr>
            </a:br>
            <a:r>
              <a:rPr lang="en-US" sz="4500" b="1" dirty="0">
                <a:solidFill>
                  <a:schemeClr val="tx1"/>
                </a:solidFill>
                <a:latin typeface="Lexend Black" panose="020B0604020202020204" charset="0"/>
              </a:rPr>
              <a:t>WORKS</a:t>
            </a:r>
            <a:endParaRPr lang="en-IN" sz="4500" b="1" dirty="0">
              <a:solidFill>
                <a:schemeClr val="tx1"/>
              </a:solidFill>
              <a:latin typeface="Lexend Black" panose="020B0604020202020204" charset="0"/>
            </a:endParaRPr>
          </a:p>
        </p:txBody>
      </p:sp>
      <p:sp>
        <p:nvSpPr>
          <p:cNvPr id="5" name="Slide Number Placeholder 4">
            <a:extLst>
              <a:ext uri="{FF2B5EF4-FFF2-40B4-BE49-F238E27FC236}">
                <a16:creationId xmlns:a16="http://schemas.microsoft.com/office/drawing/2014/main" id="{566FB67C-B02F-6113-C25B-1C8B88495E76}"/>
              </a:ext>
            </a:extLst>
          </p:cNvPr>
          <p:cNvSpPr>
            <a:spLocks noGrp="1"/>
          </p:cNvSpPr>
          <p:nvPr>
            <p:ph type="sldNum" sz="quarter" idx="12"/>
          </p:nvPr>
        </p:nvSpPr>
        <p:spPr/>
        <p:txBody>
          <a:bodyPr/>
          <a:lstStyle/>
          <a:p>
            <a:fld id="{4FAB73BC-B049-4115-A692-8D63A059BFB8}" type="slidenum">
              <a:rPr lang="en-US" sz="2000" smtClean="0"/>
              <a:pPr/>
              <a:t>6</a:t>
            </a:fld>
            <a:endParaRPr lang="en-US" sz="2000" dirty="0"/>
          </a:p>
        </p:txBody>
      </p:sp>
    </p:spTree>
    <p:extLst>
      <p:ext uri="{BB962C8B-B14F-4D97-AF65-F5344CB8AC3E}">
        <p14:creationId xmlns:p14="http://schemas.microsoft.com/office/powerpoint/2010/main" val="2528810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E407E-28E3-068F-A364-57EA1ED63A31}"/>
              </a:ext>
            </a:extLst>
          </p:cNvPr>
          <p:cNvSpPr>
            <a:spLocks noGrp="1"/>
          </p:cNvSpPr>
          <p:nvPr>
            <p:ph type="title"/>
          </p:nvPr>
        </p:nvSpPr>
        <p:spPr/>
        <p:txBody>
          <a:bodyPr>
            <a:normAutofit/>
          </a:bodyPr>
          <a:lstStyle/>
          <a:p>
            <a:pPr algn="ctr"/>
            <a:r>
              <a:rPr lang="en-US" sz="4500" b="1" dirty="0">
                <a:solidFill>
                  <a:schemeClr val="tx1"/>
                </a:solidFill>
                <a:latin typeface="Lexend Black" panose="020B0604020202020204" charset="0"/>
              </a:rPr>
              <a:t>RELATED WORK</a:t>
            </a:r>
            <a:endParaRPr lang="en-IN" sz="4500" b="1" dirty="0">
              <a:solidFill>
                <a:schemeClr val="tx1"/>
              </a:solidFill>
              <a:latin typeface="Lexend Black" panose="020B0604020202020204" charset="0"/>
            </a:endParaRPr>
          </a:p>
        </p:txBody>
      </p:sp>
      <p:sp>
        <p:nvSpPr>
          <p:cNvPr id="3" name="Slide Number Placeholder 2">
            <a:extLst>
              <a:ext uri="{FF2B5EF4-FFF2-40B4-BE49-F238E27FC236}">
                <a16:creationId xmlns:a16="http://schemas.microsoft.com/office/drawing/2014/main" id="{603BBE90-F71E-7780-5C7E-51261501A428}"/>
              </a:ext>
            </a:extLst>
          </p:cNvPr>
          <p:cNvSpPr>
            <a:spLocks noGrp="1"/>
          </p:cNvSpPr>
          <p:nvPr>
            <p:ph type="sldNum" sz="quarter" idx="12"/>
          </p:nvPr>
        </p:nvSpPr>
        <p:spPr/>
        <p:txBody>
          <a:bodyPr/>
          <a:lstStyle/>
          <a:p>
            <a:fld id="{4FAB73BC-B049-4115-A692-8D63A059BFB8}" type="slidenum">
              <a:rPr lang="en-US" sz="2000" smtClean="0"/>
              <a:pPr/>
              <a:t>7</a:t>
            </a:fld>
            <a:endParaRPr lang="en-US" sz="2000" dirty="0"/>
          </a:p>
        </p:txBody>
      </p:sp>
      <p:sp>
        <p:nvSpPr>
          <p:cNvPr id="4" name="Text Placeholder 2">
            <a:extLst>
              <a:ext uri="{FF2B5EF4-FFF2-40B4-BE49-F238E27FC236}">
                <a16:creationId xmlns:a16="http://schemas.microsoft.com/office/drawing/2014/main" id="{DC0EFF2B-1224-46CE-695B-F85C2F5834C2}"/>
              </a:ext>
            </a:extLst>
          </p:cNvPr>
          <p:cNvSpPr txBox="1">
            <a:spLocks/>
          </p:cNvSpPr>
          <p:nvPr/>
        </p:nvSpPr>
        <p:spPr>
          <a:xfrm>
            <a:off x="3522304" y="136525"/>
            <a:ext cx="8236963" cy="6333639"/>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0" indent="0" algn="just">
              <a:lnSpc>
                <a:spcPct val="150000"/>
              </a:lnSpc>
              <a:buNone/>
            </a:pPr>
            <a:r>
              <a:rPr lang="en-US" i="1" dirty="0">
                <a:solidFill>
                  <a:schemeClr val="tx1"/>
                </a:solidFill>
                <a:latin typeface="Lexend Black" panose="020B0604020202020204" charset="0"/>
              </a:rPr>
              <a:t>A Transformer-CNN Hybrid Model for Cognitive Behavioral Therapy in Psychological Assessment and Intervention for Enhanced Diagnostic Accuracy and Treatment Efficiency</a:t>
            </a:r>
            <a:endParaRPr lang="en-US" dirty="0">
              <a:solidFill>
                <a:schemeClr val="tx1"/>
              </a:solidFill>
              <a:latin typeface="Lexend Black" panose="020B0604020202020204" charset="0"/>
            </a:endParaRPr>
          </a:p>
          <a:p>
            <a:pPr marL="742950" lvl="1" indent="-285750" algn="just">
              <a:lnSpc>
                <a:spcPct val="150000"/>
              </a:lnSpc>
            </a:pPr>
            <a:r>
              <a:rPr lang="en-US" dirty="0">
                <a:solidFill>
                  <a:schemeClr val="tx1"/>
                </a:solidFill>
                <a:latin typeface="Lexend Black" panose="020B0604020202020204" charset="0"/>
              </a:rPr>
              <a:t>Transformer-CNN hybrid model achieves 97% accuracy in psychological assessment, enhancing diagnostic precision and treatment recommendations.</a:t>
            </a:r>
          </a:p>
          <a:p>
            <a:pPr marL="742950" lvl="1" indent="-285750" algn="just">
              <a:lnSpc>
                <a:spcPct val="150000"/>
              </a:lnSpc>
            </a:pPr>
            <a:r>
              <a:rPr lang="en-US" dirty="0">
                <a:solidFill>
                  <a:schemeClr val="tx1"/>
                </a:solidFill>
                <a:latin typeface="Lexend Black" panose="020B0604020202020204" charset="0"/>
              </a:rPr>
              <a:t>The research highlights how the model enhances contextual understanding by leveraging the hierarchical feature extraction of CNNs with the sequential processing power of Transformers. </a:t>
            </a:r>
          </a:p>
          <a:p>
            <a:pPr marL="742950" lvl="1" indent="-285750" algn="just">
              <a:lnSpc>
                <a:spcPct val="150000"/>
              </a:lnSpc>
            </a:pPr>
            <a:r>
              <a:rPr lang="en-US" dirty="0">
                <a:solidFill>
                  <a:schemeClr val="tx1"/>
                </a:solidFill>
                <a:latin typeface="Lexend Black" panose="020B0604020202020204" charset="0"/>
              </a:rPr>
              <a:t>The study compares the Trans-CNN model with existing techniques such as CNN-</a:t>
            </a:r>
            <a:r>
              <a:rPr lang="en-US" dirty="0" err="1">
                <a:solidFill>
                  <a:schemeClr val="tx1"/>
                </a:solidFill>
                <a:latin typeface="Lexend Black" panose="020B0604020202020204" charset="0"/>
              </a:rPr>
              <a:t>GloVe</a:t>
            </a:r>
            <a:r>
              <a:rPr lang="en-US" dirty="0">
                <a:solidFill>
                  <a:schemeClr val="tx1"/>
                </a:solidFill>
                <a:latin typeface="Lexend Black" panose="020B0604020202020204" charset="0"/>
              </a:rPr>
              <a:t>, SBERT-CNN, and </a:t>
            </a:r>
            <a:r>
              <a:rPr lang="en-US" dirty="0" err="1">
                <a:solidFill>
                  <a:schemeClr val="tx1"/>
                </a:solidFill>
                <a:latin typeface="Lexend Black" panose="020B0604020202020204" charset="0"/>
              </a:rPr>
              <a:t>AiME</a:t>
            </a:r>
            <a:r>
              <a:rPr lang="en-US" dirty="0">
                <a:solidFill>
                  <a:schemeClr val="tx1"/>
                </a:solidFill>
                <a:latin typeface="Lexend Black" panose="020B0604020202020204" charset="0"/>
              </a:rPr>
              <a:t>-LSTM, demonstrating superior accuracy (above 86%) and improved performance across precision, recall, and F1-score metrics. </a:t>
            </a:r>
          </a:p>
          <a:p>
            <a:pPr marL="742950" lvl="1" indent="-285750" algn="just">
              <a:lnSpc>
                <a:spcPct val="150000"/>
              </a:lnSpc>
            </a:pPr>
            <a:r>
              <a:rPr lang="en-US" dirty="0">
                <a:solidFill>
                  <a:schemeClr val="tx1"/>
                </a:solidFill>
                <a:latin typeface="Lexend Black" panose="020B0604020202020204" charset="0"/>
              </a:rPr>
              <a:t>The results indicate that Trans-CNN effectively captures intricate sentiment patterns, making it a robust solution for applications in cognitive behavioral therapy (CBT) and psychological diagnostics. </a:t>
            </a:r>
          </a:p>
          <a:p>
            <a:pPr marL="0" lvl="0" indent="0" algn="just" rtl="0">
              <a:lnSpc>
                <a:spcPct val="150000"/>
              </a:lnSpc>
              <a:spcBef>
                <a:spcPts val="0"/>
              </a:spcBef>
              <a:spcAft>
                <a:spcPts val="0"/>
              </a:spcAft>
              <a:buNone/>
            </a:pPr>
            <a:endParaRPr lang="en-US" sz="1800" dirty="0">
              <a:solidFill>
                <a:schemeClr val="tx1"/>
              </a:solidFill>
              <a:latin typeface="Lexend Black" panose="020B0604020202020204" charset="0"/>
            </a:endParaRPr>
          </a:p>
          <a:p>
            <a:endParaRPr lang="en-IN" dirty="0">
              <a:solidFill>
                <a:schemeClr val="tx1"/>
              </a:solidFill>
              <a:latin typeface="Lexend Black" panose="020B0604020202020204" charset="0"/>
            </a:endParaRPr>
          </a:p>
        </p:txBody>
      </p:sp>
    </p:spTree>
    <p:extLst>
      <p:ext uri="{BB962C8B-B14F-4D97-AF65-F5344CB8AC3E}">
        <p14:creationId xmlns:p14="http://schemas.microsoft.com/office/powerpoint/2010/main" val="1211880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482B4-B414-A9A1-BD13-D7871811B5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57CE4E-0A58-34C6-3BFE-B8586A259856}"/>
              </a:ext>
            </a:extLst>
          </p:cNvPr>
          <p:cNvSpPr>
            <a:spLocks noGrp="1"/>
          </p:cNvSpPr>
          <p:nvPr>
            <p:ph type="title"/>
          </p:nvPr>
        </p:nvSpPr>
        <p:spPr/>
        <p:txBody>
          <a:bodyPr>
            <a:normAutofit/>
          </a:bodyPr>
          <a:lstStyle/>
          <a:p>
            <a:pPr algn="ctr"/>
            <a:r>
              <a:rPr lang="en-US" sz="4500" b="1" dirty="0">
                <a:solidFill>
                  <a:schemeClr val="tx1"/>
                </a:solidFill>
                <a:latin typeface="Lexend Black" panose="020B0604020202020204" charset="0"/>
              </a:rPr>
              <a:t>RELATED WORK</a:t>
            </a:r>
            <a:endParaRPr lang="en-IN" sz="4500" b="1" dirty="0">
              <a:solidFill>
                <a:schemeClr val="tx1"/>
              </a:solidFill>
              <a:latin typeface="Lexend Black" panose="020B0604020202020204" charset="0"/>
            </a:endParaRPr>
          </a:p>
        </p:txBody>
      </p:sp>
      <p:sp>
        <p:nvSpPr>
          <p:cNvPr id="3" name="Slide Number Placeholder 2">
            <a:extLst>
              <a:ext uri="{FF2B5EF4-FFF2-40B4-BE49-F238E27FC236}">
                <a16:creationId xmlns:a16="http://schemas.microsoft.com/office/drawing/2014/main" id="{225C2596-72AA-80EF-A58B-2AD7E6F351B5}"/>
              </a:ext>
            </a:extLst>
          </p:cNvPr>
          <p:cNvSpPr>
            <a:spLocks noGrp="1"/>
          </p:cNvSpPr>
          <p:nvPr>
            <p:ph type="sldNum" sz="quarter" idx="12"/>
          </p:nvPr>
        </p:nvSpPr>
        <p:spPr/>
        <p:txBody>
          <a:bodyPr/>
          <a:lstStyle/>
          <a:p>
            <a:fld id="{4FAB73BC-B049-4115-A692-8D63A059BFB8}" type="slidenum">
              <a:rPr lang="en-US" sz="2000" smtClean="0"/>
              <a:pPr/>
              <a:t>8</a:t>
            </a:fld>
            <a:endParaRPr lang="en-US" sz="2000" dirty="0"/>
          </a:p>
        </p:txBody>
      </p:sp>
      <p:pic>
        <p:nvPicPr>
          <p:cNvPr id="5" name="Picture 4">
            <a:extLst>
              <a:ext uri="{FF2B5EF4-FFF2-40B4-BE49-F238E27FC236}">
                <a16:creationId xmlns:a16="http://schemas.microsoft.com/office/drawing/2014/main" id="{89D4880F-8B72-13B6-3DE2-4C3C91CBE321}"/>
              </a:ext>
            </a:extLst>
          </p:cNvPr>
          <p:cNvPicPr>
            <a:picLocks noChangeAspect="1"/>
          </p:cNvPicPr>
          <p:nvPr/>
        </p:nvPicPr>
        <p:blipFill>
          <a:blip r:embed="rId2"/>
          <a:srcRect l="22820" t="19433" r="42586" b="5557"/>
          <a:stretch/>
        </p:blipFill>
        <p:spPr>
          <a:xfrm>
            <a:off x="4281376" y="330006"/>
            <a:ext cx="5618404" cy="6391469"/>
          </a:xfrm>
          <a:prstGeom prst="rect">
            <a:avLst/>
          </a:prstGeom>
        </p:spPr>
      </p:pic>
    </p:spTree>
    <p:extLst>
      <p:ext uri="{BB962C8B-B14F-4D97-AF65-F5344CB8AC3E}">
        <p14:creationId xmlns:p14="http://schemas.microsoft.com/office/powerpoint/2010/main" val="659141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1D080D1-8FAE-562C-934E-E97690D42DFB}"/>
              </a:ext>
            </a:extLst>
          </p:cNvPr>
          <p:cNvSpPr>
            <a:spLocks noGrp="1"/>
          </p:cNvSpPr>
          <p:nvPr>
            <p:ph type="sldNum" sz="quarter" idx="12"/>
          </p:nvPr>
        </p:nvSpPr>
        <p:spPr/>
        <p:txBody>
          <a:bodyPr/>
          <a:lstStyle/>
          <a:p>
            <a:fld id="{4FAB73BC-B049-4115-A692-8D63A059BFB8}" type="slidenum">
              <a:rPr lang="en-US" sz="2000" smtClean="0"/>
              <a:pPr/>
              <a:t>9</a:t>
            </a:fld>
            <a:endParaRPr lang="en-US" sz="2000" dirty="0"/>
          </a:p>
        </p:txBody>
      </p:sp>
      <p:sp>
        <p:nvSpPr>
          <p:cNvPr id="6" name="TextBox 5">
            <a:extLst>
              <a:ext uri="{FF2B5EF4-FFF2-40B4-BE49-F238E27FC236}">
                <a16:creationId xmlns:a16="http://schemas.microsoft.com/office/drawing/2014/main" id="{FA4042F4-FEE7-651B-6BDC-59433A2E0D08}"/>
              </a:ext>
            </a:extLst>
          </p:cNvPr>
          <p:cNvSpPr txBox="1"/>
          <p:nvPr/>
        </p:nvSpPr>
        <p:spPr>
          <a:xfrm>
            <a:off x="9183329" y="2602914"/>
            <a:ext cx="3146321" cy="615553"/>
          </a:xfrm>
          <a:prstGeom prst="rect">
            <a:avLst/>
          </a:prstGeom>
          <a:noFill/>
        </p:spPr>
        <p:txBody>
          <a:bodyPr wrap="square">
            <a:spAutoFit/>
          </a:bodyPr>
          <a:lstStyle/>
          <a:p>
            <a:r>
              <a:rPr lang="en-US" sz="3400" b="1" dirty="0">
                <a:latin typeface="Lexend Black" panose="020B0604020202020204" charset="0"/>
              </a:rPr>
              <a:t>METHODOLOGY</a:t>
            </a:r>
          </a:p>
        </p:txBody>
      </p:sp>
      <p:sp>
        <p:nvSpPr>
          <p:cNvPr id="2" name="TextBox 1">
            <a:extLst>
              <a:ext uri="{FF2B5EF4-FFF2-40B4-BE49-F238E27FC236}">
                <a16:creationId xmlns:a16="http://schemas.microsoft.com/office/drawing/2014/main" id="{A18E385A-989B-B296-8C4C-E90A6EDBBCA7}"/>
              </a:ext>
            </a:extLst>
          </p:cNvPr>
          <p:cNvSpPr txBox="1"/>
          <p:nvPr/>
        </p:nvSpPr>
        <p:spPr>
          <a:xfrm>
            <a:off x="0" y="62319"/>
            <a:ext cx="9183329" cy="6294031"/>
          </a:xfrm>
          <a:prstGeom prst="rect">
            <a:avLst/>
          </a:prstGeom>
          <a:noFill/>
        </p:spPr>
        <p:txBody>
          <a:bodyPr wrap="square" rtlCol="0">
            <a:spAutoFit/>
          </a:bodyPr>
          <a:lstStyle/>
          <a:p>
            <a:pPr algn="just">
              <a:lnSpc>
                <a:spcPct val="150000"/>
              </a:lnSpc>
            </a:pPr>
            <a:r>
              <a:rPr lang="en-IN" sz="2200" b="1" u="sng" dirty="0">
                <a:latin typeface="Lexend Black" panose="020B0604020202020204"/>
              </a:rPr>
              <a:t>1. DATASET DESCRIPTION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effectLst/>
                <a:latin typeface="Lexend Black" panose="020B0604020202020204"/>
              </a:rPr>
              <a:t>The dataset contains 303 student responses collected via Google Forms, focused on mental health.</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effectLst/>
                <a:latin typeface="Lexend Black" panose="020B0604020202020204"/>
              </a:rPr>
              <a:t>It was saved in CSV format (original_student_gform.csv) for easy analysis and processing.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effectLst/>
                <a:latin typeface="Lexend Black" panose="020B0604020202020204"/>
              </a:rPr>
              <a:t>It includes demographic details like age, gender, and course, along with Likert-scale responses.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effectLst/>
                <a:latin typeface="Lexend Black" panose="020B0604020202020204"/>
              </a:rPr>
              <a:t>Psychological features captured include five cognitive distortions, anxiety, and depression.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effectLst/>
                <a:latin typeface="Lexend Black" panose="020B0604020202020204"/>
              </a:rPr>
              <a:t>Most responses are on a 5-point Likert scale, making the data suitable for numerical analysis.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effectLst/>
                <a:latin typeface="Lexend Black" panose="020B0604020202020204"/>
              </a:rPr>
              <a:t>92.1% of participants are aged 18–21, with 54.1% female and 45.9% male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2467644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E5957-D3E2-E499-F1EC-3B1A295044A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A4EA3D7-8872-707D-24A7-D2A466B9BA40}"/>
              </a:ext>
            </a:extLst>
          </p:cNvPr>
          <p:cNvSpPr>
            <a:spLocks noGrp="1"/>
          </p:cNvSpPr>
          <p:nvPr>
            <p:ph type="sldNum" sz="quarter" idx="12"/>
          </p:nvPr>
        </p:nvSpPr>
        <p:spPr/>
        <p:txBody>
          <a:bodyPr/>
          <a:lstStyle/>
          <a:p>
            <a:fld id="{4FAB73BC-B049-4115-A692-8D63A059BFB8}" type="slidenum">
              <a:rPr lang="en-US" sz="2000" smtClean="0"/>
              <a:pPr/>
              <a:t>10</a:t>
            </a:fld>
            <a:endParaRPr lang="en-US" sz="2000" dirty="0"/>
          </a:p>
        </p:txBody>
      </p:sp>
      <p:sp>
        <p:nvSpPr>
          <p:cNvPr id="6" name="TextBox 5">
            <a:extLst>
              <a:ext uri="{FF2B5EF4-FFF2-40B4-BE49-F238E27FC236}">
                <a16:creationId xmlns:a16="http://schemas.microsoft.com/office/drawing/2014/main" id="{21A78953-C53F-C19B-5DAE-B6EB91632DB9}"/>
              </a:ext>
            </a:extLst>
          </p:cNvPr>
          <p:cNvSpPr txBox="1"/>
          <p:nvPr/>
        </p:nvSpPr>
        <p:spPr>
          <a:xfrm>
            <a:off x="9202994" y="2593082"/>
            <a:ext cx="3080056" cy="615553"/>
          </a:xfrm>
          <a:prstGeom prst="rect">
            <a:avLst/>
          </a:prstGeom>
          <a:noFill/>
        </p:spPr>
        <p:txBody>
          <a:bodyPr wrap="square">
            <a:spAutoFit/>
          </a:bodyPr>
          <a:lstStyle/>
          <a:p>
            <a:r>
              <a:rPr lang="en-US" sz="3400" b="1" dirty="0">
                <a:latin typeface="Lexend Black" panose="020B0604020202020204" charset="0"/>
              </a:rPr>
              <a:t>METHODOLOGY</a:t>
            </a:r>
          </a:p>
        </p:txBody>
      </p:sp>
      <p:sp>
        <p:nvSpPr>
          <p:cNvPr id="3" name="TextBox 2">
            <a:extLst>
              <a:ext uri="{FF2B5EF4-FFF2-40B4-BE49-F238E27FC236}">
                <a16:creationId xmlns:a16="http://schemas.microsoft.com/office/drawing/2014/main" id="{68E7561C-FF0E-722E-0CC2-F98A58A1D8E0}"/>
              </a:ext>
            </a:extLst>
          </p:cNvPr>
          <p:cNvSpPr txBox="1"/>
          <p:nvPr/>
        </p:nvSpPr>
        <p:spPr>
          <a:xfrm>
            <a:off x="26938" y="70047"/>
            <a:ext cx="9104671" cy="6180025"/>
          </a:xfrm>
          <a:prstGeom prst="rect">
            <a:avLst/>
          </a:prstGeom>
          <a:noFill/>
        </p:spPr>
        <p:txBody>
          <a:bodyPr wrap="square">
            <a:spAutoFit/>
          </a:bodyPr>
          <a:lstStyle/>
          <a:p>
            <a:pPr>
              <a:lnSpc>
                <a:spcPct val="150000"/>
              </a:lnSpc>
            </a:pPr>
            <a:r>
              <a:rPr lang="en-IN" sz="2200" b="1" u="sng" dirty="0">
                <a:latin typeface="Lexend Black" panose="020B0604020202020204" charset="0"/>
              </a:rPr>
              <a:t>2. DATASET PREPROCESSING</a:t>
            </a:r>
          </a:p>
          <a:p>
            <a:pPr>
              <a:lnSpc>
                <a:spcPct val="150000"/>
              </a:lnSpc>
            </a:pPr>
            <a:endParaRPr lang="en-IN" sz="2000" b="1" u="sng" dirty="0">
              <a:latin typeface="Lexend Black" panose="020B0604020202020204"/>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effectLst/>
                <a:latin typeface="Lexend Black" panose="020B0604020202020204"/>
              </a:rPr>
              <a:t>Handled missing values with </a:t>
            </a:r>
            <a:r>
              <a:rPr kumimoji="0" lang="en-US" altLang="en-US" sz="2000" b="0" i="0" u="none" strike="noStrike" cap="none" normalizeH="0" baseline="0" dirty="0" err="1">
                <a:ln>
                  <a:noFill/>
                </a:ln>
                <a:effectLst/>
                <a:latin typeface="Lexend Black" panose="020B0604020202020204"/>
              </a:rPr>
              <a:t>SimpleImputer</a:t>
            </a:r>
            <a:r>
              <a:rPr kumimoji="0" lang="en-US" altLang="en-US" sz="2000" b="0" i="0" u="none" strike="noStrike" cap="none" normalizeH="0" baseline="0" dirty="0">
                <a:ln>
                  <a:noFill/>
                </a:ln>
                <a:effectLst/>
                <a:latin typeface="Lexend Black" panose="020B0604020202020204"/>
              </a:rPr>
              <a:t> to ensure complete data for clustering and model training.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effectLst/>
                <a:latin typeface="Lexend Black" panose="020B0604020202020204"/>
              </a:rPr>
              <a:t>Cleaned text fields (age, course names) using re (regex) and string modules for valid, structured data.</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effectLst/>
                <a:latin typeface="Lexend Black" panose="020B0604020202020204"/>
              </a:rPr>
              <a:t>Encoded categorical data (gender, course) using label encoding or one-hot encoding based on variable type.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effectLst/>
                <a:latin typeface="Lexend Black" panose="020B0604020202020204"/>
              </a:rPr>
              <a:t>Standardized numerical features with </a:t>
            </a:r>
            <a:r>
              <a:rPr kumimoji="0" lang="en-US" altLang="en-US" sz="2000" b="0" i="0" u="none" strike="noStrike" cap="none" normalizeH="0" baseline="0" dirty="0" err="1">
                <a:ln>
                  <a:noFill/>
                </a:ln>
                <a:effectLst/>
                <a:latin typeface="Lexend Black" panose="020B0604020202020204"/>
              </a:rPr>
              <a:t>StandardScaler</a:t>
            </a:r>
            <a:r>
              <a:rPr kumimoji="0" lang="en-US" altLang="en-US" sz="2000" b="0" i="0" u="none" strike="noStrike" cap="none" normalizeH="0" baseline="0" dirty="0">
                <a:ln>
                  <a:noFill/>
                </a:ln>
                <a:effectLst/>
                <a:latin typeface="Lexend Black" panose="020B0604020202020204"/>
              </a:rPr>
              <a:t> to ensure fair feature contribution during clustering.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effectLst/>
                <a:latin typeface="Lexend Black" panose="020B0604020202020204"/>
              </a:rPr>
              <a:t>Used pandas, </a:t>
            </a:r>
            <a:r>
              <a:rPr kumimoji="0" lang="en-US" altLang="en-US" sz="2000" b="0" i="0" u="none" strike="noStrike" cap="none" normalizeH="0" baseline="0" dirty="0" err="1">
                <a:ln>
                  <a:noFill/>
                </a:ln>
                <a:effectLst/>
                <a:latin typeface="Lexend Black" panose="020B0604020202020204"/>
              </a:rPr>
              <a:t>numpy</a:t>
            </a:r>
            <a:r>
              <a:rPr kumimoji="0" lang="en-US" altLang="en-US" sz="2000" b="0" i="0" u="none" strike="noStrike" cap="none" normalizeH="0" baseline="0" dirty="0">
                <a:ln>
                  <a:noFill/>
                </a:ln>
                <a:effectLst/>
                <a:latin typeface="Lexend Black" panose="020B0604020202020204"/>
              </a:rPr>
              <a:t>, re, string, scikit-learn, matplotlib, and seaborn for efficient data handling, transformation, and visualization.</a:t>
            </a:r>
          </a:p>
          <a:p>
            <a:pPr>
              <a:lnSpc>
                <a:spcPct val="150000"/>
              </a:lnSpc>
            </a:pPr>
            <a:endParaRPr lang="en-US" sz="2000" dirty="0">
              <a:latin typeface="Lexend Black" panose="020B0604020202020204"/>
            </a:endParaRPr>
          </a:p>
        </p:txBody>
      </p:sp>
      <p:sp>
        <p:nvSpPr>
          <p:cNvPr id="12" name="Rectangle 7">
            <a:extLst>
              <a:ext uri="{FF2B5EF4-FFF2-40B4-BE49-F238E27FC236}">
                <a16:creationId xmlns:a16="http://schemas.microsoft.com/office/drawing/2014/main" id="{7EEBDAD3-FB91-D954-5062-E0D01BD90A79}"/>
              </a:ext>
            </a:extLst>
          </p:cNvPr>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159731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A828E-6872-026E-D8D4-D1C60C355B2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74EC8AF-D715-E63B-E5BD-5F32B1089A7C}"/>
              </a:ext>
            </a:extLst>
          </p:cNvPr>
          <p:cNvSpPr>
            <a:spLocks noGrp="1"/>
          </p:cNvSpPr>
          <p:nvPr>
            <p:ph type="sldNum" sz="quarter" idx="12"/>
          </p:nvPr>
        </p:nvSpPr>
        <p:spPr/>
        <p:txBody>
          <a:bodyPr/>
          <a:lstStyle/>
          <a:p>
            <a:fld id="{4FAB73BC-B049-4115-A692-8D63A059BFB8}" type="slidenum">
              <a:rPr lang="en-US" sz="2000" smtClean="0"/>
              <a:pPr/>
              <a:t>11</a:t>
            </a:fld>
            <a:endParaRPr lang="en-US" sz="2000" dirty="0"/>
          </a:p>
        </p:txBody>
      </p:sp>
      <p:sp>
        <p:nvSpPr>
          <p:cNvPr id="6" name="TextBox 5">
            <a:extLst>
              <a:ext uri="{FF2B5EF4-FFF2-40B4-BE49-F238E27FC236}">
                <a16:creationId xmlns:a16="http://schemas.microsoft.com/office/drawing/2014/main" id="{09623546-5377-2483-A9E9-D810C9341269}"/>
              </a:ext>
            </a:extLst>
          </p:cNvPr>
          <p:cNvSpPr txBox="1"/>
          <p:nvPr/>
        </p:nvSpPr>
        <p:spPr>
          <a:xfrm>
            <a:off x="9202994" y="2593082"/>
            <a:ext cx="3080056" cy="615553"/>
          </a:xfrm>
          <a:prstGeom prst="rect">
            <a:avLst/>
          </a:prstGeom>
          <a:noFill/>
        </p:spPr>
        <p:txBody>
          <a:bodyPr wrap="square">
            <a:spAutoFit/>
          </a:bodyPr>
          <a:lstStyle/>
          <a:p>
            <a:r>
              <a:rPr lang="en-US" sz="3400" b="1" dirty="0">
                <a:latin typeface="Lexend Black" panose="020B0604020202020204" charset="0"/>
              </a:rPr>
              <a:t>METHODOLOGY</a:t>
            </a:r>
          </a:p>
        </p:txBody>
      </p:sp>
      <p:pic>
        <p:nvPicPr>
          <p:cNvPr id="5" name="Picture 4">
            <a:extLst>
              <a:ext uri="{FF2B5EF4-FFF2-40B4-BE49-F238E27FC236}">
                <a16:creationId xmlns:a16="http://schemas.microsoft.com/office/drawing/2014/main" id="{5BB75D2F-F40D-3AF6-917C-BC46B295BDCA}"/>
              </a:ext>
            </a:extLst>
          </p:cNvPr>
          <p:cNvPicPr>
            <a:picLocks noChangeAspect="1"/>
          </p:cNvPicPr>
          <p:nvPr/>
        </p:nvPicPr>
        <p:blipFill>
          <a:blip r:embed="rId2"/>
          <a:srcRect l="46750" t="40295" r="29167" b="32149"/>
          <a:stretch/>
        </p:blipFill>
        <p:spPr>
          <a:xfrm>
            <a:off x="1799350" y="1757128"/>
            <a:ext cx="5163694" cy="3784476"/>
          </a:xfrm>
          <a:prstGeom prst="rect">
            <a:avLst/>
          </a:prstGeom>
        </p:spPr>
      </p:pic>
      <p:sp>
        <p:nvSpPr>
          <p:cNvPr id="39" name="TextBox 38">
            <a:extLst>
              <a:ext uri="{FF2B5EF4-FFF2-40B4-BE49-F238E27FC236}">
                <a16:creationId xmlns:a16="http://schemas.microsoft.com/office/drawing/2014/main" id="{0309DC64-405A-E12F-0FA5-277A79485A8D}"/>
              </a:ext>
            </a:extLst>
          </p:cNvPr>
          <p:cNvSpPr txBox="1"/>
          <p:nvPr/>
        </p:nvSpPr>
        <p:spPr>
          <a:xfrm>
            <a:off x="0" y="217089"/>
            <a:ext cx="6135328" cy="430887"/>
          </a:xfrm>
          <a:prstGeom prst="rect">
            <a:avLst/>
          </a:prstGeom>
          <a:noFill/>
        </p:spPr>
        <p:txBody>
          <a:bodyPr wrap="square">
            <a:spAutoFit/>
          </a:bodyPr>
          <a:lstStyle/>
          <a:p>
            <a:pPr algn="just"/>
            <a:r>
              <a:rPr lang="en-US" sz="2200" b="1" u="sng" dirty="0">
                <a:latin typeface="Lexend Black" panose="020B0604020202020204" charset="0"/>
                <a:ea typeface="Inter" panose="020B0604020202020204" charset="0"/>
              </a:rPr>
              <a:t>3. WORK FLOW</a:t>
            </a:r>
          </a:p>
        </p:txBody>
      </p:sp>
    </p:spTree>
    <p:extLst>
      <p:ext uri="{BB962C8B-B14F-4D97-AF65-F5344CB8AC3E}">
        <p14:creationId xmlns:p14="http://schemas.microsoft.com/office/powerpoint/2010/main" val="37222864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67215-5C4C-BC70-B876-24408D4C749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63E4907-C843-8767-6517-04755E38F043}"/>
              </a:ext>
            </a:extLst>
          </p:cNvPr>
          <p:cNvSpPr>
            <a:spLocks noGrp="1"/>
          </p:cNvSpPr>
          <p:nvPr>
            <p:ph type="sldNum" sz="quarter" idx="12"/>
          </p:nvPr>
        </p:nvSpPr>
        <p:spPr/>
        <p:txBody>
          <a:bodyPr/>
          <a:lstStyle/>
          <a:p>
            <a:fld id="{4FAB73BC-B049-4115-A692-8D63A059BFB8}" type="slidenum">
              <a:rPr lang="en-US" sz="2000" smtClean="0"/>
              <a:pPr/>
              <a:t>12</a:t>
            </a:fld>
            <a:endParaRPr lang="en-US" sz="2000" dirty="0"/>
          </a:p>
        </p:txBody>
      </p:sp>
      <p:sp>
        <p:nvSpPr>
          <p:cNvPr id="6" name="TextBox 5">
            <a:extLst>
              <a:ext uri="{FF2B5EF4-FFF2-40B4-BE49-F238E27FC236}">
                <a16:creationId xmlns:a16="http://schemas.microsoft.com/office/drawing/2014/main" id="{634D6006-2C27-2077-CCC1-0A3489734868}"/>
              </a:ext>
            </a:extLst>
          </p:cNvPr>
          <p:cNvSpPr txBox="1"/>
          <p:nvPr/>
        </p:nvSpPr>
        <p:spPr>
          <a:xfrm>
            <a:off x="9202994" y="2593082"/>
            <a:ext cx="3080056" cy="615553"/>
          </a:xfrm>
          <a:prstGeom prst="rect">
            <a:avLst/>
          </a:prstGeom>
          <a:noFill/>
        </p:spPr>
        <p:txBody>
          <a:bodyPr wrap="square">
            <a:spAutoFit/>
          </a:bodyPr>
          <a:lstStyle/>
          <a:p>
            <a:r>
              <a:rPr lang="en-US" sz="3400" b="1" dirty="0">
                <a:latin typeface="Lexend Black" panose="020B0604020202020204" charset="0"/>
              </a:rPr>
              <a:t>METHODOLOGY</a:t>
            </a:r>
          </a:p>
        </p:txBody>
      </p:sp>
      <p:sp>
        <p:nvSpPr>
          <p:cNvPr id="3" name="TextBox 2">
            <a:extLst>
              <a:ext uri="{FF2B5EF4-FFF2-40B4-BE49-F238E27FC236}">
                <a16:creationId xmlns:a16="http://schemas.microsoft.com/office/drawing/2014/main" id="{31E2870F-9326-5BAD-E73E-4DE10C3FF9A3}"/>
              </a:ext>
            </a:extLst>
          </p:cNvPr>
          <p:cNvSpPr txBox="1"/>
          <p:nvPr/>
        </p:nvSpPr>
        <p:spPr>
          <a:xfrm>
            <a:off x="0" y="139332"/>
            <a:ext cx="9124335" cy="5630772"/>
          </a:xfrm>
          <a:prstGeom prst="rect">
            <a:avLst/>
          </a:prstGeom>
          <a:noFill/>
        </p:spPr>
        <p:txBody>
          <a:bodyPr wrap="square">
            <a:spAutoFit/>
          </a:bodyPr>
          <a:lstStyle/>
          <a:p>
            <a:pPr>
              <a:lnSpc>
                <a:spcPct val="150000"/>
              </a:lnSpc>
              <a:buNone/>
            </a:pPr>
            <a:r>
              <a:rPr lang="en-US" sz="2200" b="1" u="sng" dirty="0">
                <a:latin typeface="Lexend Black" panose="020B0604020202020204"/>
              </a:rPr>
              <a:t>4. K-MEANS CLUSTERING</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sz="2000" dirty="0">
                <a:latin typeface="Lexend Black" panose="020B0604020202020204"/>
              </a:rPr>
              <a:t>K-Means clustering was chosen to uncover inherent groupings among students without requiring predefined labels, making it suitable for exploring patterns in psychological traits such as anxiety, depression, and cognitive distortions.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sz="2000" dirty="0">
                <a:latin typeface="Lexend Black" panose="020B0604020202020204"/>
              </a:rPr>
              <a:t>This unsupervised learning method was ideal for identifying natural segments within the data, especially in the early stages of analysis where labeled outcomes were not available.</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sz="2000" dirty="0">
                <a:latin typeface="Lexend Black" panose="020B0604020202020204"/>
              </a:rPr>
              <a:t>Clustering helped reveal underlying behavioral groupings, such as students experiencing high versus low levels of psychological distress, which could inform targeted interventions.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sz="2000" dirty="0" err="1">
                <a:latin typeface="Lexend Black" panose="020B0604020202020204"/>
              </a:rPr>
              <a:t>StandardScaler</a:t>
            </a:r>
            <a:r>
              <a:rPr lang="en-US" sz="2000" dirty="0">
                <a:latin typeface="Lexend Black" panose="020B0604020202020204"/>
              </a:rPr>
              <a:t> was applied to normalize features, ensuring fair contribution of all variables, as K-Means is sensitive to varying data scales.</a:t>
            </a:r>
            <a:endParaRPr lang="en-US" sz="2000" b="1" dirty="0">
              <a:latin typeface="Lexend Black" panose="020B0604020202020204"/>
            </a:endParaRPr>
          </a:p>
        </p:txBody>
      </p:sp>
    </p:spTree>
    <p:extLst>
      <p:ext uri="{BB962C8B-B14F-4D97-AF65-F5344CB8AC3E}">
        <p14:creationId xmlns:p14="http://schemas.microsoft.com/office/powerpoint/2010/main" val="40646108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B239A-9A00-0859-CF62-1503CFA1F0D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B39C5E-4856-B22E-21C2-7E76D927569A}"/>
              </a:ext>
            </a:extLst>
          </p:cNvPr>
          <p:cNvSpPr>
            <a:spLocks noGrp="1"/>
          </p:cNvSpPr>
          <p:nvPr>
            <p:ph type="sldNum" sz="quarter" idx="12"/>
          </p:nvPr>
        </p:nvSpPr>
        <p:spPr/>
        <p:txBody>
          <a:bodyPr/>
          <a:lstStyle/>
          <a:p>
            <a:fld id="{4FAB73BC-B049-4115-A692-8D63A059BFB8}" type="slidenum">
              <a:rPr lang="en-US" sz="2000" smtClean="0"/>
              <a:pPr/>
              <a:t>13</a:t>
            </a:fld>
            <a:endParaRPr lang="en-US" sz="2000" dirty="0"/>
          </a:p>
        </p:txBody>
      </p:sp>
      <p:sp>
        <p:nvSpPr>
          <p:cNvPr id="6" name="TextBox 5">
            <a:extLst>
              <a:ext uri="{FF2B5EF4-FFF2-40B4-BE49-F238E27FC236}">
                <a16:creationId xmlns:a16="http://schemas.microsoft.com/office/drawing/2014/main" id="{3CB50898-14F8-2834-709A-5D4C707C28ED}"/>
              </a:ext>
            </a:extLst>
          </p:cNvPr>
          <p:cNvSpPr txBox="1"/>
          <p:nvPr/>
        </p:nvSpPr>
        <p:spPr>
          <a:xfrm>
            <a:off x="9202994" y="2593082"/>
            <a:ext cx="3080056" cy="615553"/>
          </a:xfrm>
          <a:prstGeom prst="rect">
            <a:avLst/>
          </a:prstGeom>
          <a:noFill/>
        </p:spPr>
        <p:txBody>
          <a:bodyPr wrap="square">
            <a:spAutoFit/>
          </a:bodyPr>
          <a:lstStyle/>
          <a:p>
            <a:r>
              <a:rPr lang="en-US" sz="3400" b="1" dirty="0">
                <a:latin typeface="Lexend Black" panose="020B0604020202020204" charset="0"/>
              </a:rPr>
              <a:t>METHODOLOGY</a:t>
            </a:r>
          </a:p>
        </p:txBody>
      </p:sp>
      <p:sp>
        <p:nvSpPr>
          <p:cNvPr id="3" name="TextBox 2">
            <a:extLst>
              <a:ext uri="{FF2B5EF4-FFF2-40B4-BE49-F238E27FC236}">
                <a16:creationId xmlns:a16="http://schemas.microsoft.com/office/drawing/2014/main" id="{9E708773-4706-2172-05DB-F0BBC52D3605}"/>
              </a:ext>
            </a:extLst>
          </p:cNvPr>
          <p:cNvSpPr txBox="1"/>
          <p:nvPr/>
        </p:nvSpPr>
        <p:spPr>
          <a:xfrm>
            <a:off x="0" y="78738"/>
            <a:ext cx="9085006" cy="6554102"/>
          </a:xfrm>
          <a:prstGeom prst="rect">
            <a:avLst/>
          </a:prstGeom>
          <a:noFill/>
        </p:spPr>
        <p:txBody>
          <a:bodyPr wrap="square">
            <a:spAutoFit/>
          </a:bodyPr>
          <a:lstStyle/>
          <a:p>
            <a:pPr algn="just" defTabSz="914400" eaLnBrk="0" fontAlgn="base" hangingPunct="0">
              <a:lnSpc>
                <a:spcPct val="150000"/>
              </a:lnSpc>
              <a:spcBef>
                <a:spcPct val="0"/>
              </a:spcBef>
              <a:spcAft>
                <a:spcPct val="0"/>
              </a:spcAft>
            </a:pPr>
            <a:r>
              <a:rPr lang="en-US" sz="2200" b="1" u="sng" dirty="0">
                <a:latin typeface="Lexend Black" panose="020B0604020202020204"/>
              </a:rPr>
              <a:t>5. CLASSIFICATION MODELS</a:t>
            </a:r>
          </a:p>
          <a:p>
            <a:pPr algn="just">
              <a:lnSpc>
                <a:spcPct val="150000"/>
              </a:lnSpc>
              <a:buFont typeface="Arial" panose="020B0604020202020204" pitchFamily="34" charset="0"/>
              <a:buChar char="•"/>
            </a:pPr>
            <a:r>
              <a:rPr lang="en-US" sz="2000" b="0" i="0" dirty="0">
                <a:effectLst/>
                <a:latin typeface="Lexend Black" panose="020B0604020202020204"/>
              </a:rPr>
              <a:t>Classification models were chosen because the dataset contains labeled categories indicating different mental health states or the presence of cognitive distortions, making it a supervised learning problem where the goal is to predict or classify these predefined categories.</a:t>
            </a:r>
          </a:p>
          <a:p>
            <a:pPr algn="just">
              <a:lnSpc>
                <a:spcPct val="150000"/>
              </a:lnSpc>
              <a:buFont typeface="Arial" panose="020B0604020202020204" pitchFamily="34" charset="0"/>
              <a:buChar char="•"/>
            </a:pPr>
            <a:r>
              <a:rPr lang="en-US" sz="2000" b="0" i="0" dirty="0">
                <a:effectLst/>
                <a:latin typeface="Lexend Black" panose="020B0604020202020204"/>
              </a:rPr>
              <a:t>The dataset is derived from structured questionnaires or survey responses, with each record representing a student and including features such as symptoms, demographic data, and responses related to mental health, which are suitable for classification tasks.</a:t>
            </a:r>
          </a:p>
          <a:p>
            <a:pPr algn="just">
              <a:lnSpc>
                <a:spcPct val="150000"/>
              </a:lnSpc>
              <a:buFont typeface="Arial" panose="020B0604020202020204" pitchFamily="34" charset="0"/>
              <a:buChar char="•"/>
            </a:pPr>
            <a:r>
              <a:rPr lang="en-US" sz="2000" b="0" i="0" dirty="0">
                <a:effectLst/>
                <a:latin typeface="Lexend Black" panose="020B0604020202020204"/>
              </a:rPr>
              <a:t>Using classification models allows for the extraction of hidden patterns and rules that can predict whether a student needs further psychological consultation, which is not feasible with conventional statistical methods due to the high volume and complexity</a:t>
            </a:r>
          </a:p>
          <a:p>
            <a:pPr algn="just">
              <a:lnSpc>
                <a:spcPct val="150000"/>
              </a:lnSpc>
            </a:pPr>
            <a:r>
              <a:rPr lang="en-US" sz="2000" b="0" i="0" dirty="0">
                <a:effectLst/>
                <a:latin typeface="Lexend Black" panose="020B0604020202020204"/>
              </a:rPr>
              <a:t>of the data.</a:t>
            </a:r>
          </a:p>
          <a:p>
            <a:pPr algn="just">
              <a:lnSpc>
                <a:spcPct val="150000"/>
              </a:lnSpc>
              <a:buFont typeface="Arial" panose="020B0604020202020204" pitchFamily="34" charset="0"/>
              <a:buChar char="•"/>
            </a:pPr>
            <a:endParaRPr lang="en-US" sz="2000" b="0" i="0" dirty="0">
              <a:effectLst/>
              <a:latin typeface="Lexend Black" panose="020B0604020202020204"/>
            </a:endParaRPr>
          </a:p>
        </p:txBody>
      </p:sp>
    </p:spTree>
    <p:extLst>
      <p:ext uri="{BB962C8B-B14F-4D97-AF65-F5344CB8AC3E}">
        <p14:creationId xmlns:p14="http://schemas.microsoft.com/office/powerpoint/2010/main" val="42582960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2058E-38EB-5595-99E3-EE24F818A11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C8E617A-EA70-79D5-16DD-550F6040E706}"/>
              </a:ext>
            </a:extLst>
          </p:cNvPr>
          <p:cNvSpPr>
            <a:spLocks noGrp="1"/>
          </p:cNvSpPr>
          <p:nvPr>
            <p:ph type="sldNum" sz="quarter" idx="12"/>
          </p:nvPr>
        </p:nvSpPr>
        <p:spPr/>
        <p:txBody>
          <a:bodyPr/>
          <a:lstStyle/>
          <a:p>
            <a:fld id="{4FAB73BC-B049-4115-A692-8D63A059BFB8}" type="slidenum">
              <a:rPr lang="en-US" sz="2000" smtClean="0"/>
              <a:pPr/>
              <a:t>14</a:t>
            </a:fld>
            <a:endParaRPr lang="en-US" sz="2000" dirty="0"/>
          </a:p>
        </p:txBody>
      </p:sp>
      <p:sp>
        <p:nvSpPr>
          <p:cNvPr id="6" name="TextBox 5">
            <a:extLst>
              <a:ext uri="{FF2B5EF4-FFF2-40B4-BE49-F238E27FC236}">
                <a16:creationId xmlns:a16="http://schemas.microsoft.com/office/drawing/2014/main" id="{A38A9BA2-A488-1CCA-02C6-EC2260E51506}"/>
              </a:ext>
            </a:extLst>
          </p:cNvPr>
          <p:cNvSpPr txBox="1"/>
          <p:nvPr/>
        </p:nvSpPr>
        <p:spPr>
          <a:xfrm>
            <a:off x="9202994" y="2593082"/>
            <a:ext cx="3080056" cy="615553"/>
          </a:xfrm>
          <a:prstGeom prst="rect">
            <a:avLst/>
          </a:prstGeom>
          <a:noFill/>
        </p:spPr>
        <p:txBody>
          <a:bodyPr wrap="square">
            <a:spAutoFit/>
          </a:bodyPr>
          <a:lstStyle/>
          <a:p>
            <a:r>
              <a:rPr lang="en-US" sz="3400" b="1" dirty="0">
                <a:latin typeface="Lexend Black" panose="020B0604020202020204" charset="0"/>
              </a:rPr>
              <a:t>METHODOLOGY</a:t>
            </a:r>
          </a:p>
        </p:txBody>
      </p:sp>
      <p:sp>
        <p:nvSpPr>
          <p:cNvPr id="3" name="TextBox 2">
            <a:extLst>
              <a:ext uri="{FF2B5EF4-FFF2-40B4-BE49-F238E27FC236}">
                <a16:creationId xmlns:a16="http://schemas.microsoft.com/office/drawing/2014/main" id="{C5619307-4E31-D993-7460-7F1F606EB12C}"/>
              </a:ext>
            </a:extLst>
          </p:cNvPr>
          <p:cNvSpPr txBox="1"/>
          <p:nvPr/>
        </p:nvSpPr>
        <p:spPr>
          <a:xfrm>
            <a:off x="88490" y="713410"/>
            <a:ext cx="9006349" cy="4661276"/>
          </a:xfrm>
          <a:prstGeom prst="rect">
            <a:avLst/>
          </a:prstGeom>
          <a:noFill/>
        </p:spPr>
        <p:txBody>
          <a:bodyPr wrap="square" rtlCol="0">
            <a:spAutoFit/>
          </a:bodyPr>
          <a:lstStyle/>
          <a:p>
            <a:pPr algn="just">
              <a:lnSpc>
                <a:spcPct val="150000"/>
              </a:lnSpc>
              <a:buFont typeface="Arial" panose="020B0604020202020204" pitchFamily="34" charset="0"/>
              <a:buChar char="•"/>
            </a:pPr>
            <a:r>
              <a:rPr lang="en-US" sz="2000" b="0" i="0" dirty="0">
                <a:effectLst/>
                <a:latin typeface="Lexend Black" panose="020B0604020202020204"/>
              </a:rPr>
              <a:t>Classification models like Logistic Regression, Decision Tree, Random Forest, and </a:t>
            </a:r>
            <a:r>
              <a:rPr lang="en-US" sz="2000" b="0" i="0" dirty="0" err="1">
                <a:effectLst/>
                <a:latin typeface="Lexend Black" panose="020B0604020202020204"/>
              </a:rPr>
              <a:t>XGBoost</a:t>
            </a:r>
            <a:r>
              <a:rPr lang="en-US" sz="2000" b="0" i="0" dirty="0">
                <a:effectLst/>
                <a:latin typeface="Lexend Black" panose="020B0604020202020204"/>
              </a:rPr>
              <a:t> were selected for their ability to handle multidimensional data, provide interpretable results, and deliver high accuracy in predicting mental health categories.</a:t>
            </a:r>
          </a:p>
          <a:p>
            <a:pPr algn="just">
              <a:lnSpc>
                <a:spcPct val="150000"/>
              </a:lnSpc>
              <a:buFont typeface="Arial" panose="020B0604020202020204" pitchFamily="34" charset="0"/>
              <a:buChar char="•"/>
            </a:pPr>
            <a:r>
              <a:rPr lang="en-US" sz="2000" b="0" i="0" dirty="0">
                <a:effectLst/>
                <a:latin typeface="Lexend Black" panose="020B0604020202020204"/>
              </a:rPr>
              <a:t>The dataset was split into training and testing sets, typically using an 80:20 ratio, to ensure that model performance is evaluated on unseen data.</a:t>
            </a:r>
          </a:p>
          <a:p>
            <a:pPr algn="just">
              <a:lnSpc>
                <a:spcPct val="150000"/>
              </a:lnSpc>
              <a:buFont typeface="Arial" panose="020B0604020202020204" pitchFamily="34" charset="0"/>
              <a:buChar char="•"/>
            </a:pPr>
            <a:r>
              <a:rPr lang="en-US" sz="2000" b="0" i="0" dirty="0">
                <a:effectLst/>
                <a:latin typeface="Lexend Black" panose="020B0604020202020204"/>
              </a:rPr>
              <a:t>The workflow involved data collection through structured questionnaires, preprocessing (handling missing values, encoding, scaling), initial clustering to find patterns, training classification models, evaluating their performance and visualizing results to derive actionable insights.</a:t>
            </a:r>
          </a:p>
        </p:txBody>
      </p:sp>
    </p:spTree>
    <p:extLst>
      <p:ext uri="{BB962C8B-B14F-4D97-AF65-F5344CB8AC3E}">
        <p14:creationId xmlns:p14="http://schemas.microsoft.com/office/powerpoint/2010/main" val="34501567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9C287-8DCF-6FF5-E189-47459D4038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D087C1-BA69-CBB6-9451-79024F836EBE}"/>
              </a:ext>
            </a:extLst>
          </p:cNvPr>
          <p:cNvSpPr>
            <a:spLocks noGrp="1"/>
          </p:cNvSpPr>
          <p:nvPr>
            <p:ph type="title"/>
          </p:nvPr>
        </p:nvSpPr>
        <p:spPr>
          <a:xfrm>
            <a:off x="0" y="1123837"/>
            <a:ext cx="3405673" cy="4601183"/>
          </a:xfrm>
        </p:spPr>
        <p:txBody>
          <a:bodyPr>
            <a:normAutofit/>
          </a:bodyPr>
          <a:lstStyle/>
          <a:p>
            <a:pPr algn="ctr"/>
            <a:r>
              <a:rPr lang="en-US" b="1" dirty="0">
                <a:solidFill>
                  <a:schemeClr val="tx1"/>
                </a:solidFill>
                <a:latin typeface="Lexend Black" panose="020B0604020202020204" charset="0"/>
              </a:rPr>
              <a:t>EXPERIMENTAL ANALYSIS AND RESULTS</a:t>
            </a:r>
            <a:endParaRPr lang="en-IN" b="1" dirty="0">
              <a:solidFill>
                <a:schemeClr val="tx1"/>
              </a:solidFill>
              <a:latin typeface="Lexend Black" panose="020B0604020202020204" charset="0"/>
            </a:endParaRPr>
          </a:p>
        </p:txBody>
      </p:sp>
      <p:sp>
        <p:nvSpPr>
          <p:cNvPr id="3" name="Slide Number Placeholder 2">
            <a:extLst>
              <a:ext uri="{FF2B5EF4-FFF2-40B4-BE49-F238E27FC236}">
                <a16:creationId xmlns:a16="http://schemas.microsoft.com/office/drawing/2014/main" id="{9B7DA074-558F-8418-21A1-5711EA4C8F18}"/>
              </a:ext>
            </a:extLst>
          </p:cNvPr>
          <p:cNvSpPr>
            <a:spLocks noGrp="1"/>
          </p:cNvSpPr>
          <p:nvPr>
            <p:ph type="sldNum" sz="quarter" idx="12"/>
          </p:nvPr>
        </p:nvSpPr>
        <p:spPr/>
        <p:txBody>
          <a:bodyPr/>
          <a:lstStyle/>
          <a:p>
            <a:fld id="{4FAB73BC-B049-4115-A692-8D63A059BFB8}" type="slidenum">
              <a:rPr lang="en-US" sz="2000" smtClean="0"/>
              <a:pPr/>
              <a:t>15</a:t>
            </a:fld>
            <a:endParaRPr lang="en-US" sz="2000" dirty="0"/>
          </a:p>
        </p:txBody>
      </p:sp>
      <p:sp>
        <p:nvSpPr>
          <p:cNvPr id="6" name="TextBox 5">
            <a:extLst>
              <a:ext uri="{FF2B5EF4-FFF2-40B4-BE49-F238E27FC236}">
                <a16:creationId xmlns:a16="http://schemas.microsoft.com/office/drawing/2014/main" id="{3C228191-680B-DF77-DB02-BA100C2ACB71}"/>
              </a:ext>
            </a:extLst>
          </p:cNvPr>
          <p:cNvSpPr txBox="1"/>
          <p:nvPr/>
        </p:nvSpPr>
        <p:spPr>
          <a:xfrm>
            <a:off x="3405673" y="660440"/>
            <a:ext cx="6100916" cy="545919"/>
          </a:xfrm>
          <a:prstGeom prst="rect">
            <a:avLst/>
          </a:prstGeom>
          <a:noFill/>
        </p:spPr>
        <p:txBody>
          <a:bodyPr wrap="square">
            <a:spAutoFit/>
          </a:bodyPr>
          <a:lstStyle/>
          <a:p>
            <a:pPr marL="179705" marR="179705">
              <a:lnSpc>
                <a:spcPct val="150000"/>
              </a:lnSpc>
              <a:spcAft>
                <a:spcPts val="800"/>
              </a:spcAft>
            </a:pPr>
            <a:r>
              <a:rPr lang="en-US" sz="2200" b="1" dirty="0">
                <a:latin typeface="Lexend Black" panose="020B0604020202020204"/>
                <a:ea typeface="Calibri" panose="020F0502020204030204" pitchFamily="34" charset="0"/>
                <a:cs typeface="Times New Roman" panose="02020603050405020304" pitchFamily="18" charset="0"/>
              </a:rPr>
              <a:t>E</a:t>
            </a:r>
            <a:r>
              <a:rPr lang="en-IN" sz="2200" b="1" dirty="0">
                <a:latin typeface="Lexend Black" panose="020B0604020202020204"/>
                <a:ea typeface="Calibri" panose="020F0502020204030204" pitchFamily="34" charset="0"/>
                <a:cs typeface="Times New Roman" panose="02020603050405020304" pitchFamily="18" charset="0"/>
              </a:rPr>
              <a:t>valuation Metrics</a:t>
            </a:r>
            <a:endParaRPr lang="en-IN" sz="2200" dirty="0">
              <a:effectLst/>
              <a:latin typeface="Lexend Black" panose="020B0604020202020204"/>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1825EC32-9381-7BEB-E2E7-8BD764F247D2}"/>
              </a:ext>
            </a:extLst>
          </p:cNvPr>
          <p:cNvSpPr txBox="1"/>
          <p:nvPr/>
        </p:nvSpPr>
        <p:spPr>
          <a:xfrm>
            <a:off x="3405673" y="1206359"/>
            <a:ext cx="8111613" cy="4395499"/>
          </a:xfrm>
          <a:prstGeom prst="rect">
            <a:avLst/>
          </a:prstGeom>
          <a:noFill/>
        </p:spPr>
        <p:txBody>
          <a:bodyPr wrap="square">
            <a:spAutoFit/>
          </a:bodyPr>
          <a:lstStyle/>
          <a:p>
            <a:pPr marL="179705" marR="179705" indent="277495" algn="just">
              <a:lnSpc>
                <a:spcPct val="150000"/>
              </a:lnSpc>
              <a:spcAft>
                <a:spcPts val="800"/>
              </a:spcAft>
            </a:pPr>
            <a:r>
              <a:rPr lang="en-IN" sz="2000" dirty="0">
                <a:effectLst/>
                <a:latin typeface="Lexend Black" panose="020B0604020202020204"/>
                <a:ea typeface="Times New Roman" panose="02020603050405020304" pitchFamily="18" charset="0"/>
                <a:cs typeface="Times New Roman" panose="02020603050405020304" pitchFamily="18" charset="0"/>
              </a:rPr>
              <a:t>To assess the predictive performance of each classification model in accurately assigning mental health clusters, the system utilizes a combination of core evaluation metrics. </a:t>
            </a:r>
          </a:p>
          <a:p>
            <a:pPr marL="522605" marR="179705" indent="-342900" algn="just">
              <a:lnSpc>
                <a:spcPct val="150000"/>
              </a:lnSpc>
              <a:spcAft>
                <a:spcPts val="800"/>
              </a:spcAft>
              <a:buFont typeface="Arial" panose="020B0604020202020204" pitchFamily="34" charset="0"/>
              <a:buChar char="•"/>
            </a:pPr>
            <a:r>
              <a:rPr lang="en-IN" sz="2000" b="1" dirty="0">
                <a:latin typeface="Lexend Black" panose="020B0604020202020204"/>
                <a:ea typeface="Calibri" panose="020F0502020204030204" pitchFamily="34" charset="0"/>
                <a:cs typeface="Times New Roman" panose="02020603050405020304" pitchFamily="18" charset="0"/>
              </a:rPr>
              <a:t>Confusion Matrix </a:t>
            </a:r>
            <a:r>
              <a:rPr lang="en-IN" sz="2000" dirty="0">
                <a:latin typeface="Lexend Black" panose="020B0604020202020204"/>
                <a:ea typeface="Calibri" panose="020F0502020204030204" pitchFamily="34" charset="0"/>
                <a:cs typeface="Times New Roman" panose="02020603050405020304" pitchFamily="18" charset="0"/>
              </a:rPr>
              <a:t>– A </a:t>
            </a:r>
            <a:r>
              <a:rPr kumimoji="0" lang="en-US" altLang="en-US" sz="2000" b="0" i="0" u="none" strike="noStrike" cap="none" normalizeH="0" baseline="0" dirty="0">
                <a:ln>
                  <a:noFill/>
                </a:ln>
                <a:effectLst/>
                <a:latin typeface="Lexend Black" panose="020B0604020202020204"/>
              </a:rPr>
              <a:t>square matrix that visualizes actual vs. predicted cluster labels, highlighting each model’s strengths and misclassifications in mental health risk prediction.</a:t>
            </a:r>
          </a:p>
          <a:p>
            <a:pPr marL="522605" marR="179705" indent="-342900" algn="just">
              <a:lnSpc>
                <a:spcPct val="150000"/>
              </a:lnSpc>
              <a:spcAft>
                <a:spcPts val="800"/>
              </a:spcAft>
              <a:buFont typeface="Arial" panose="020B0604020202020204" pitchFamily="34" charset="0"/>
              <a:buChar char="•"/>
            </a:pPr>
            <a:r>
              <a:rPr lang="en-US" altLang="en-US" sz="2000" b="1" dirty="0">
                <a:latin typeface="Lexend Black" panose="020B0604020202020204"/>
              </a:rPr>
              <a:t>Accuracy</a:t>
            </a:r>
            <a:r>
              <a:rPr lang="en-US" altLang="en-US" sz="2000" dirty="0">
                <a:latin typeface="Lexend Black" panose="020B0604020202020204"/>
              </a:rPr>
              <a:t> - </a:t>
            </a:r>
            <a:r>
              <a:rPr kumimoji="0" lang="en-US" altLang="en-US" sz="2000" b="0" i="0" u="none" strike="noStrike" cap="none" normalizeH="0" baseline="0" dirty="0">
                <a:ln>
                  <a:noFill/>
                </a:ln>
                <a:effectLst/>
                <a:latin typeface="Arial" panose="020B0604020202020204" pitchFamily="34" charset="0"/>
              </a:rPr>
              <a:t>measures the proportion of correctly classified instances but can be misleading in the presence of class imbalance.</a:t>
            </a:r>
          </a:p>
        </p:txBody>
      </p:sp>
    </p:spTree>
    <p:extLst>
      <p:ext uri="{BB962C8B-B14F-4D97-AF65-F5344CB8AC3E}">
        <p14:creationId xmlns:p14="http://schemas.microsoft.com/office/powerpoint/2010/main" val="4876751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273FB-6DD5-A33A-CBA5-763AB1EBA5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C0335A-35AE-7508-7BB5-75152FAA7E7F}"/>
              </a:ext>
            </a:extLst>
          </p:cNvPr>
          <p:cNvSpPr>
            <a:spLocks noGrp="1"/>
          </p:cNvSpPr>
          <p:nvPr>
            <p:ph type="title"/>
          </p:nvPr>
        </p:nvSpPr>
        <p:spPr>
          <a:xfrm>
            <a:off x="0" y="1123837"/>
            <a:ext cx="3405673" cy="4601183"/>
          </a:xfrm>
        </p:spPr>
        <p:txBody>
          <a:bodyPr>
            <a:normAutofit/>
          </a:bodyPr>
          <a:lstStyle/>
          <a:p>
            <a:pPr algn="ctr"/>
            <a:r>
              <a:rPr lang="en-US" b="1" dirty="0">
                <a:solidFill>
                  <a:schemeClr val="tx1"/>
                </a:solidFill>
                <a:latin typeface="Lexend Black" panose="020B0604020202020204" charset="0"/>
              </a:rPr>
              <a:t>EXPERIMENTAL ANALYSIS AND RESULTS</a:t>
            </a:r>
            <a:endParaRPr lang="en-IN" b="1" dirty="0">
              <a:solidFill>
                <a:schemeClr val="tx1"/>
              </a:solidFill>
              <a:latin typeface="Lexend Black" panose="020B0604020202020204" charset="0"/>
            </a:endParaRPr>
          </a:p>
        </p:txBody>
      </p:sp>
      <p:sp>
        <p:nvSpPr>
          <p:cNvPr id="3" name="Slide Number Placeholder 2">
            <a:extLst>
              <a:ext uri="{FF2B5EF4-FFF2-40B4-BE49-F238E27FC236}">
                <a16:creationId xmlns:a16="http://schemas.microsoft.com/office/drawing/2014/main" id="{41784C3E-D52C-6F3F-7CD9-F6876B1956EB}"/>
              </a:ext>
            </a:extLst>
          </p:cNvPr>
          <p:cNvSpPr>
            <a:spLocks noGrp="1"/>
          </p:cNvSpPr>
          <p:nvPr>
            <p:ph type="sldNum" sz="quarter" idx="12"/>
          </p:nvPr>
        </p:nvSpPr>
        <p:spPr/>
        <p:txBody>
          <a:bodyPr/>
          <a:lstStyle/>
          <a:p>
            <a:fld id="{4FAB73BC-B049-4115-A692-8D63A059BFB8}" type="slidenum">
              <a:rPr lang="en-US" sz="2000" smtClean="0"/>
              <a:pPr/>
              <a:t>16</a:t>
            </a:fld>
            <a:endParaRPr lang="en-US" sz="2000" dirty="0"/>
          </a:p>
        </p:txBody>
      </p:sp>
      <p:sp>
        <p:nvSpPr>
          <p:cNvPr id="6" name="TextBox 5">
            <a:extLst>
              <a:ext uri="{FF2B5EF4-FFF2-40B4-BE49-F238E27FC236}">
                <a16:creationId xmlns:a16="http://schemas.microsoft.com/office/drawing/2014/main" id="{F6F82EEB-4AC9-C7ED-E248-DAD87B2439CD}"/>
              </a:ext>
            </a:extLst>
          </p:cNvPr>
          <p:cNvSpPr txBox="1"/>
          <p:nvPr/>
        </p:nvSpPr>
        <p:spPr>
          <a:xfrm>
            <a:off x="3405673" y="660440"/>
            <a:ext cx="6100916" cy="545919"/>
          </a:xfrm>
          <a:prstGeom prst="rect">
            <a:avLst/>
          </a:prstGeom>
          <a:noFill/>
        </p:spPr>
        <p:txBody>
          <a:bodyPr wrap="square">
            <a:spAutoFit/>
          </a:bodyPr>
          <a:lstStyle/>
          <a:p>
            <a:pPr marL="179705" marR="179705">
              <a:lnSpc>
                <a:spcPct val="150000"/>
              </a:lnSpc>
              <a:spcAft>
                <a:spcPts val="800"/>
              </a:spcAft>
            </a:pPr>
            <a:r>
              <a:rPr lang="en-US" sz="2200" b="1" dirty="0">
                <a:latin typeface="Lexend Black" panose="020B0604020202020204"/>
                <a:ea typeface="Calibri" panose="020F0502020204030204" pitchFamily="34" charset="0"/>
                <a:cs typeface="Times New Roman" panose="02020603050405020304" pitchFamily="18" charset="0"/>
              </a:rPr>
              <a:t>E</a:t>
            </a:r>
            <a:r>
              <a:rPr lang="en-IN" sz="2200" b="1" dirty="0">
                <a:latin typeface="Lexend Black" panose="020B0604020202020204"/>
                <a:ea typeface="Calibri" panose="020F0502020204030204" pitchFamily="34" charset="0"/>
                <a:cs typeface="Times New Roman" panose="02020603050405020304" pitchFamily="18" charset="0"/>
              </a:rPr>
              <a:t>valuation Metrics</a:t>
            </a:r>
            <a:endParaRPr lang="en-IN" sz="2200" dirty="0">
              <a:effectLst/>
              <a:latin typeface="Lexend Black" panose="020B0604020202020204"/>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BF3F09BD-3378-D775-B2F7-609F0D658CAF}"/>
              </a:ext>
            </a:extLst>
          </p:cNvPr>
          <p:cNvSpPr txBox="1"/>
          <p:nvPr/>
        </p:nvSpPr>
        <p:spPr>
          <a:xfrm>
            <a:off x="3405673" y="1206359"/>
            <a:ext cx="8111613" cy="4969053"/>
          </a:xfrm>
          <a:prstGeom prst="rect">
            <a:avLst/>
          </a:prstGeom>
          <a:noFill/>
        </p:spPr>
        <p:txBody>
          <a:bodyPr wrap="square">
            <a:spAutoFit/>
          </a:bodyPr>
          <a:lstStyle/>
          <a:p>
            <a:pPr marL="522605" marR="179705" indent="-342900" algn="just">
              <a:lnSpc>
                <a:spcPct val="150000"/>
              </a:lnSpc>
              <a:spcAft>
                <a:spcPts val="800"/>
              </a:spcAft>
              <a:buFont typeface="Arial" panose="020B0604020202020204" pitchFamily="34" charset="0"/>
              <a:buChar char="•"/>
            </a:pPr>
            <a:r>
              <a:rPr lang="en-US" sz="2000" b="1" dirty="0">
                <a:latin typeface="Lexend Black" panose="020B0604020202020204"/>
              </a:rPr>
              <a:t>Precision</a:t>
            </a:r>
            <a:r>
              <a:rPr lang="en-US" sz="2000" dirty="0">
                <a:latin typeface="Lexend Black" panose="020B0604020202020204"/>
              </a:rPr>
              <a:t> - indicates how well the model minimizes false positives by measuring the proportion of correct positive predictions out of all predicted positives.</a:t>
            </a:r>
          </a:p>
          <a:p>
            <a:pPr marL="522605" marR="179705" indent="-342900" algn="just">
              <a:lnSpc>
                <a:spcPct val="150000"/>
              </a:lnSpc>
              <a:spcAft>
                <a:spcPts val="800"/>
              </a:spcAft>
              <a:buFont typeface="Arial" panose="020B0604020202020204" pitchFamily="34" charset="0"/>
              <a:buChar char="•"/>
            </a:pPr>
            <a:r>
              <a:rPr lang="en-IN" sz="2000" b="1" dirty="0">
                <a:effectLst/>
                <a:latin typeface="Lexend Black" panose="020B0604020202020204"/>
                <a:ea typeface="Times New Roman" panose="02020603050405020304" pitchFamily="18" charset="0"/>
              </a:rPr>
              <a:t>Recall</a:t>
            </a:r>
            <a:r>
              <a:rPr lang="en-IN" sz="2000" dirty="0">
                <a:effectLst/>
                <a:latin typeface="Lexend Black" panose="020B0604020202020204"/>
                <a:ea typeface="Times New Roman" panose="02020603050405020304" pitchFamily="18" charset="0"/>
              </a:rPr>
              <a:t> - indicates the model's ability to correctly identify all actual positive instances and how effectively the model captures true positives while minimizing false negatives.</a:t>
            </a:r>
          </a:p>
          <a:p>
            <a:pPr marL="465455" marR="179705" indent="-285750" algn="just">
              <a:lnSpc>
                <a:spcPct val="150000"/>
              </a:lnSpc>
              <a:spcAft>
                <a:spcPts val="800"/>
              </a:spcAft>
              <a:buFont typeface="Arial" panose="020B0604020202020204" pitchFamily="34" charset="0"/>
              <a:buChar char="•"/>
            </a:pPr>
            <a:r>
              <a:rPr lang="en-IN" sz="2000" b="1" dirty="0">
                <a:effectLst/>
                <a:latin typeface="Lexend Black" panose="020B0604020202020204"/>
                <a:ea typeface="Times New Roman" panose="02020603050405020304" pitchFamily="18" charset="0"/>
                <a:cs typeface="Times New Roman" panose="02020603050405020304" pitchFamily="18" charset="0"/>
              </a:rPr>
              <a:t>F1-score </a:t>
            </a:r>
            <a:r>
              <a:rPr lang="en-IN" sz="2000" dirty="0">
                <a:effectLst/>
                <a:latin typeface="Lexend Black" panose="020B0604020202020204"/>
                <a:ea typeface="Times New Roman" panose="02020603050405020304" pitchFamily="18" charset="0"/>
                <a:cs typeface="Times New Roman" panose="02020603050405020304" pitchFamily="18" charset="0"/>
              </a:rPr>
              <a:t>- the harmonic mean of precision and recall, providing a balanced measure when both false positives and false negatives are important useful in cases of class imbalance. </a:t>
            </a:r>
            <a:endParaRPr lang="en-IN" sz="2000" dirty="0">
              <a:effectLst/>
              <a:latin typeface="Lexend Black" panose="020B0604020202020204"/>
              <a:ea typeface="Calibri" panose="020F0502020204030204" pitchFamily="34" charset="0"/>
              <a:cs typeface="Times New Roman" panose="02020603050405020304" pitchFamily="18" charset="0"/>
            </a:endParaRPr>
          </a:p>
          <a:p>
            <a:pPr marL="522605" marR="179705" indent="-342900" algn="just">
              <a:lnSpc>
                <a:spcPct val="150000"/>
              </a:lnSpc>
              <a:spcAft>
                <a:spcPts val="800"/>
              </a:spcAft>
              <a:buFont typeface="Arial" panose="020B0604020202020204" pitchFamily="34" charset="0"/>
              <a:buChar char="•"/>
            </a:pPr>
            <a:endParaRPr kumimoji="0" lang="en-US" altLang="en-US" sz="2000" b="0" i="0" u="none" strike="noStrike" cap="none" normalizeH="0" baseline="0" dirty="0">
              <a:ln>
                <a:noFill/>
              </a:ln>
              <a:effectLst/>
              <a:latin typeface="Lexend Black" panose="020B0604020202020204"/>
            </a:endParaRPr>
          </a:p>
        </p:txBody>
      </p:sp>
    </p:spTree>
    <p:extLst>
      <p:ext uri="{BB962C8B-B14F-4D97-AF65-F5344CB8AC3E}">
        <p14:creationId xmlns:p14="http://schemas.microsoft.com/office/powerpoint/2010/main" val="89640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A992024-04A2-50D6-0C19-75B332ABA11E}"/>
              </a:ext>
            </a:extLst>
          </p:cNvPr>
          <p:cNvSpPr>
            <a:spLocks noGrp="1"/>
          </p:cNvSpPr>
          <p:nvPr>
            <p:ph type="body" idx="1"/>
          </p:nvPr>
        </p:nvSpPr>
        <p:spPr>
          <a:xfrm>
            <a:off x="3699588" y="1052307"/>
            <a:ext cx="7315200" cy="914400"/>
          </a:xfrm>
        </p:spPr>
        <p:txBody>
          <a:bodyPr>
            <a:noAutofit/>
          </a:bodyPr>
          <a:lstStyle/>
          <a:p>
            <a:pPr marL="342900" indent="-342900" algn="just">
              <a:lnSpc>
                <a:spcPct val="150000"/>
              </a:lnSpc>
              <a:buFont typeface="Arial" panose="020B0604020202020204" pitchFamily="34" charset="0"/>
              <a:buChar char="•"/>
            </a:pPr>
            <a:r>
              <a:rPr lang="en-US" sz="2000" dirty="0">
                <a:solidFill>
                  <a:schemeClr val="tx1"/>
                </a:solidFill>
                <a:latin typeface="Lexend Black" panose="020B0604020202020204"/>
              </a:rPr>
              <a:t>K-Means clustering was used to segment students based on mental health traits.</a:t>
            </a:r>
          </a:p>
          <a:p>
            <a:pPr marL="342900" indent="-342900" algn="just">
              <a:lnSpc>
                <a:spcPct val="150000"/>
              </a:lnSpc>
              <a:buFont typeface="Arial" panose="020B0604020202020204" pitchFamily="34" charset="0"/>
              <a:buChar char="•"/>
            </a:pPr>
            <a:r>
              <a:rPr lang="en-US" sz="2000" dirty="0">
                <a:solidFill>
                  <a:schemeClr val="tx1"/>
                </a:solidFill>
                <a:latin typeface="Lexend Black" panose="020B0604020202020204"/>
              </a:rPr>
              <a:t>Features selected included anxiety, depression, and cognitive distortions like “Black &amp; White Thinking”.</a:t>
            </a:r>
          </a:p>
          <a:p>
            <a:pPr marL="342900" indent="-342900" algn="just">
              <a:lnSpc>
                <a:spcPct val="150000"/>
              </a:lnSpc>
              <a:buFont typeface="Arial" panose="020B0604020202020204" pitchFamily="34" charset="0"/>
              <a:buChar char="•"/>
            </a:pPr>
            <a:r>
              <a:rPr lang="en-US" sz="2000" dirty="0">
                <a:solidFill>
                  <a:schemeClr val="tx1"/>
                </a:solidFill>
                <a:latin typeface="Lexend Black" panose="020B0604020202020204"/>
              </a:rPr>
              <a:t>Data was standardized using </a:t>
            </a:r>
            <a:r>
              <a:rPr lang="en-US" sz="2000" dirty="0" err="1">
                <a:solidFill>
                  <a:schemeClr val="tx1"/>
                </a:solidFill>
                <a:latin typeface="Lexend Black" panose="020B0604020202020204"/>
              </a:rPr>
              <a:t>StandardScaler</a:t>
            </a:r>
            <a:r>
              <a:rPr lang="en-US" sz="2000" dirty="0">
                <a:solidFill>
                  <a:schemeClr val="tx1"/>
                </a:solidFill>
                <a:latin typeface="Lexend Black" panose="020B0604020202020204"/>
              </a:rPr>
              <a:t> to ensure equal feature contribution. </a:t>
            </a:r>
          </a:p>
          <a:p>
            <a:pPr marL="342900" indent="-342900" algn="just">
              <a:lnSpc>
                <a:spcPct val="150000"/>
              </a:lnSpc>
              <a:buFont typeface="Arial" panose="020B0604020202020204" pitchFamily="34" charset="0"/>
              <a:buChar char="•"/>
            </a:pPr>
            <a:r>
              <a:rPr lang="en-US" sz="2000" dirty="0">
                <a:solidFill>
                  <a:schemeClr val="tx1"/>
                </a:solidFill>
                <a:latin typeface="Lexend Black" panose="020B0604020202020204"/>
              </a:rPr>
              <a:t>Silhouette scores were calculated for cluster values from 2 to 10.</a:t>
            </a:r>
          </a:p>
          <a:p>
            <a:pPr marL="342900" indent="-342900" algn="just">
              <a:lnSpc>
                <a:spcPct val="150000"/>
              </a:lnSpc>
              <a:buFont typeface="Arial" panose="020B0604020202020204" pitchFamily="34" charset="0"/>
              <a:buChar char="•"/>
            </a:pPr>
            <a:r>
              <a:rPr lang="en-US" sz="2000" dirty="0">
                <a:solidFill>
                  <a:schemeClr val="tx1"/>
                </a:solidFill>
                <a:latin typeface="Lexend Black" panose="020B0604020202020204"/>
              </a:rPr>
              <a:t>The highest silhouette score (~0.3) was observed at K=2, indicating optimal clustering. </a:t>
            </a:r>
          </a:p>
        </p:txBody>
      </p:sp>
      <p:sp>
        <p:nvSpPr>
          <p:cNvPr id="4" name="Slide Number Placeholder 3">
            <a:extLst>
              <a:ext uri="{FF2B5EF4-FFF2-40B4-BE49-F238E27FC236}">
                <a16:creationId xmlns:a16="http://schemas.microsoft.com/office/drawing/2014/main" id="{B0ADDF2F-AE16-5F09-A563-44996C0A5FFB}"/>
              </a:ext>
            </a:extLst>
          </p:cNvPr>
          <p:cNvSpPr>
            <a:spLocks noGrp="1"/>
          </p:cNvSpPr>
          <p:nvPr>
            <p:ph type="sldNum" sz="quarter" idx="12"/>
          </p:nvPr>
        </p:nvSpPr>
        <p:spPr/>
        <p:txBody>
          <a:bodyPr/>
          <a:lstStyle/>
          <a:p>
            <a:fld id="{4FAB73BC-B049-4115-A692-8D63A059BFB8}" type="slidenum">
              <a:rPr lang="en-US" sz="2000" smtClean="0"/>
              <a:pPr/>
              <a:t>17</a:t>
            </a:fld>
            <a:endParaRPr lang="en-US" sz="2000" dirty="0"/>
          </a:p>
        </p:txBody>
      </p:sp>
      <p:sp>
        <p:nvSpPr>
          <p:cNvPr id="5" name="Title 1">
            <a:extLst>
              <a:ext uri="{FF2B5EF4-FFF2-40B4-BE49-F238E27FC236}">
                <a16:creationId xmlns:a16="http://schemas.microsoft.com/office/drawing/2014/main" id="{C14672F8-B871-D9AF-99E1-46C69EFA2904}"/>
              </a:ext>
            </a:extLst>
          </p:cNvPr>
          <p:cNvSpPr>
            <a:spLocks noGrp="1"/>
          </p:cNvSpPr>
          <p:nvPr>
            <p:ph type="title"/>
          </p:nvPr>
        </p:nvSpPr>
        <p:spPr>
          <a:xfrm>
            <a:off x="0" y="2153665"/>
            <a:ext cx="3405673" cy="1974114"/>
          </a:xfrm>
        </p:spPr>
        <p:txBody>
          <a:bodyPr>
            <a:normAutofit/>
          </a:bodyPr>
          <a:lstStyle/>
          <a:p>
            <a:pPr algn="ctr"/>
            <a:r>
              <a:rPr lang="en-US" sz="3600" b="1" dirty="0">
                <a:solidFill>
                  <a:schemeClr val="tx1"/>
                </a:solidFill>
                <a:latin typeface="Lexend Black" panose="020B0604020202020204" charset="0"/>
              </a:rPr>
              <a:t>EXPERIMENTAL ANALYSIS AND RESULTS</a:t>
            </a:r>
            <a:endParaRPr lang="en-IN" sz="3600" b="1" dirty="0">
              <a:solidFill>
                <a:schemeClr val="tx1"/>
              </a:solidFill>
              <a:latin typeface="Lexend Black" panose="020B0604020202020204" charset="0"/>
            </a:endParaRPr>
          </a:p>
        </p:txBody>
      </p:sp>
      <p:sp>
        <p:nvSpPr>
          <p:cNvPr id="6" name="TextBox 5">
            <a:extLst>
              <a:ext uri="{FF2B5EF4-FFF2-40B4-BE49-F238E27FC236}">
                <a16:creationId xmlns:a16="http://schemas.microsoft.com/office/drawing/2014/main" id="{B5DFA8BA-7B8F-70E8-7F1E-5DCDD3D011D1}"/>
              </a:ext>
            </a:extLst>
          </p:cNvPr>
          <p:cNvSpPr txBox="1"/>
          <p:nvPr/>
        </p:nvSpPr>
        <p:spPr>
          <a:xfrm>
            <a:off x="3699588" y="504593"/>
            <a:ext cx="6115664" cy="547714"/>
          </a:xfrm>
          <a:prstGeom prst="rect">
            <a:avLst/>
          </a:prstGeom>
          <a:noFill/>
        </p:spPr>
        <p:txBody>
          <a:bodyPr wrap="square">
            <a:spAutoFit/>
          </a:bodyPr>
          <a:lstStyle/>
          <a:p>
            <a:pPr marL="179705" marR="179705">
              <a:lnSpc>
                <a:spcPct val="150000"/>
              </a:lnSpc>
              <a:spcAft>
                <a:spcPts val="800"/>
              </a:spcAft>
            </a:pPr>
            <a:r>
              <a:rPr lang="en-US" sz="2200" b="1" dirty="0">
                <a:effectLst/>
                <a:latin typeface="Lexend Black" panose="020B0604020202020204"/>
                <a:ea typeface="Calibri" panose="020F0502020204030204" pitchFamily="34" charset="0"/>
                <a:cs typeface="Times New Roman" panose="02020603050405020304" pitchFamily="18" charset="0"/>
              </a:rPr>
              <a:t>K- M</a:t>
            </a:r>
            <a:r>
              <a:rPr lang="en-US" sz="2200" b="1" dirty="0">
                <a:latin typeface="Lexend Black" panose="020B0604020202020204"/>
                <a:ea typeface="Calibri" panose="020F0502020204030204" pitchFamily="34" charset="0"/>
                <a:cs typeface="Times New Roman" panose="02020603050405020304" pitchFamily="18" charset="0"/>
              </a:rPr>
              <a:t>eans Clustering</a:t>
            </a:r>
            <a:endParaRPr lang="en-IN" sz="2200" dirty="0">
              <a:effectLst/>
              <a:latin typeface="Lexend Black" panose="020B0604020202020204"/>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435442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DBF25-0E4C-960E-C14A-8E84A680AB2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46E7EC8-81C8-C565-D859-D145C7D13C86}"/>
              </a:ext>
            </a:extLst>
          </p:cNvPr>
          <p:cNvSpPr>
            <a:spLocks noGrp="1"/>
          </p:cNvSpPr>
          <p:nvPr>
            <p:ph type="body" idx="1"/>
          </p:nvPr>
        </p:nvSpPr>
        <p:spPr>
          <a:xfrm>
            <a:off x="3699588" y="1052307"/>
            <a:ext cx="7315200" cy="914400"/>
          </a:xfrm>
        </p:spPr>
        <p:txBody>
          <a:bodyPr>
            <a:noAutofit/>
          </a:bodyPr>
          <a:lstStyle/>
          <a:p>
            <a:pPr marL="342900" indent="-342900" algn="just">
              <a:lnSpc>
                <a:spcPct val="150000"/>
              </a:lnSpc>
              <a:buFont typeface="Arial" panose="020B0604020202020204" pitchFamily="34" charset="0"/>
              <a:buChar char="•"/>
            </a:pPr>
            <a:r>
              <a:rPr lang="en-US" sz="2000" dirty="0">
                <a:solidFill>
                  <a:schemeClr val="tx1"/>
                </a:solidFill>
                <a:latin typeface="Lexend Black" panose="020B0604020202020204"/>
              </a:rPr>
              <a:t>Scatter plots (e.g., pair plots) visualized student groupings in reduced dimensions. </a:t>
            </a:r>
          </a:p>
          <a:p>
            <a:pPr marL="342900" indent="-342900" algn="just">
              <a:lnSpc>
                <a:spcPct val="150000"/>
              </a:lnSpc>
              <a:buFont typeface="Arial" panose="020B0604020202020204" pitchFamily="34" charset="0"/>
              <a:buChar char="•"/>
            </a:pPr>
            <a:r>
              <a:rPr lang="en-US" sz="2000" dirty="0">
                <a:solidFill>
                  <a:schemeClr val="tx1"/>
                </a:solidFill>
                <a:latin typeface="Lexend Black" panose="020B0604020202020204"/>
              </a:rPr>
              <a:t>Cluster 0 showed higher levels of anxiety and distortions than Cluster 1.</a:t>
            </a:r>
          </a:p>
          <a:p>
            <a:pPr marL="342900" indent="-342900" algn="just">
              <a:lnSpc>
                <a:spcPct val="150000"/>
              </a:lnSpc>
              <a:buFont typeface="Arial" panose="020B0604020202020204" pitchFamily="34" charset="0"/>
              <a:buChar char="•"/>
            </a:pPr>
            <a:r>
              <a:rPr lang="en-US" sz="2000" dirty="0">
                <a:solidFill>
                  <a:schemeClr val="tx1"/>
                </a:solidFill>
                <a:latin typeface="Lexend Black" panose="020B0604020202020204"/>
              </a:rPr>
              <a:t>Distribution plots showed clear separation in key variables across clusters.</a:t>
            </a:r>
            <a:endParaRPr lang="en-IN" sz="2000" dirty="0">
              <a:solidFill>
                <a:schemeClr val="tx1"/>
              </a:solidFill>
              <a:latin typeface="Lexend Black" panose="020B0604020202020204"/>
            </a:endParaRPr>
          </a:p>
        </p:txBody>
      </p:sp>
      <p:sp>
        <p:nvSpPr>
          <p:cNvPr id="4" name="Slide Number Placeholder 3">
            <a:extLst>
              <a:ext uri="{FF2B5EF4-FFF2-40B4-BE49-F238E27FC236}">
                <a16:creationId xmlns:a16="http://schemas.microsoft.com/office/drawing/2014/main" id="{98966577-410D-3F90-D5E2-46076B7A54B2}"/>
              </a:ext>
            </a:extLst>
          </p:cNvPr>
          <p:cNvSpPr>
            <a:spLocks noGrp="1"/>
          </p:cNvSpPr>
          <p:nvPr>
            <p:ph type="sldNum" sz="quarter" idx="12"/>
          </p:nvPr>
        </p:nvSpPr>
        <p:spPr/>
        <p:txBody>
          <a:bodyPr/>
          <a:lstStyle/>
          <a:p>
            <a:fld id="{4FAB73BC-B049-4115-A692-8D63A059BFB8}" type="slidenum">
              <a:rPr lang="en-US" sz="2000" smtClean="0"/>
              <a:pPr/>
              <a:t>18</a:t>
            </a:fld>
            <a:endParaRPr lang="en-US" sz="2000" dirty="0"/>
          </a:p>
        </p:txBody>
      </p:sp>
      <p:sp>
        <p:nvSpPr>
          <p:cNvPr id="5" name="Title 1">
            <a:extLst>
              <a:ext uri="{FF2B5EF4-FFF2-40B4-BE49-F238E27FC236}">
                <a16:creationId xmlns:a16="http://schemas.microsoft.com/office/drawing/2014/main" id="{33CDED2F-724C-C077-19B8-F4D0802F9950}"/>
              </a:ext>
            </a:extLst>
          </p:cNvPr>
          <p:cNvSpPr>
            <a:spLocks noGrp="1"/>
          </p:cNvSpPr>
          <p:nvPr>
            <p:ph type="title"/>
          </p:nvPr>
        </p:nvSpPr>
        <p:spPr>
          <a:xfrm>
            <a:off x="0" y="2153665"/>
            <a:ext cx="3405673" cy="1974114"/>
          </a:xfrm>
        </p:spPr>
        <p:txBody>
          <a:bodyPr>
            <a:normAutofit/>
          </a:bodyPr>
          <a:lstStyle/>
          <a:p>
            <a:pPr algn="ctr"/>
            <a:r>
              <a:rPr lang="en-US" sz="3600" b="1" dirty="0">
                <a:solidFill>
                  <a:schemeClr val="tx1"/>
                </a:solidFill>
                <a:latin typeface="Lexend Black" panose="020B0604020202020204" charset="0"/>
              </a:rPr>
              <a:t>EXPERIMENTAL ANALYSIS AND RESULTS</a:t>
            </a:r>
            <a:endParaRPr lang="en-IN" sz="3600" b="1" dirty="0">
              <a:solidFill>
                <a:schemeClr val="tx1"/>
              </a:solidFill>
              <a:latin typeface="Lexend Black" panose="020B0604020202020204" charset="0"/>
            </a:endParaRPr>
          </a:p>
        </p:txBody>
      </p:sp>
      <p:sp>
        <p:nvSpPr>
          <p:cNvPr id="6" name="TextBox 5">
            <a:extLst>
              <a:ext uri="{FF2B5EF4-FFF2-40B4-BE49-F238E27FC236}">
                <a16:creationId xmlns:a16="http://schemas.microsoft.com/office/drawing/2014/main" id="{B26576A2-301C-AE6B-3A0F-F78D60C48B33}"/>
              </a:ext>
            </a:extLst>
          </p:cNvPr>
          <p:cNvSpPr txBox="1"/>
          <p:nvPr/>
        </p:nvSpPr>
        <p:spPr>
          <a:xfrm>
            <a:off x="3699588" y="504593"/>
            <a:ext cx="6115664" cy="547714"/>
          </a:xfrm>
          <a:prstGeom prst="rect">
            <a:avLst/>
          </a:prstGeom>
          <a:noFill/>
        </p:spPr>
        <p:txBody>
          <a:bodyPr wrap="square">
            <a:spAutoFit/>
          </a:bodyPr>
          <a:lstStyle/>
          <a:p>
            <a:pPr marL="179705" marR="179705">
              <a:lnSpc>
                <a:spcPct val="150000"/>
              </a:lnSpc>
              <a:spcAft>
                <a:spcPts val="800"/>
              </a:spcAft>
            </a:pPr>
            <a:r>
              <a:rPr lang="en-US" sz="2200" b="1" dirty="0">
                <a:effectLst/>
                <a:latin typeface="Lexend Black" panose="020B0604020202020204"/>
                <a:ea typeface="Calibri" panose="020F0502020204030204" pitchFamily="34" charset="0"/>
                <a:cs typeface="Times New Roman" panose="02020603050405020304" pitchFamily="18" charset="0"/>
              </a:rPr>
              <a:t>K- M</a:t>
            </a:r>
            <a:r>
              <a:rPr lang="en-US" sz="2200" b="1" dirty="0">
                <a:latin typeface="Lexend Black" panose="020B0604020202020204"/>
                <a:ea typeface="Calibri" panose="020F0502020204030204" pitchFamily="34" charset="0"/>
                <a:cs typeface="Times New Roman" panose="02020603050405020304" pitchFamily="18" charset="0"/>
              </a:rPr>
              <a:t>eans Clustering</a:t>
            </a:r>
            <a:endParaRPr lang="en-IN" sz="2200" dirty="0">
              <a:effectLst/>
              <a:latin typeface="Lexend Black" panose="020B0604020202020204"/>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465422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F06716-78AB-D9F3-3ED6-A2E3FAE71F8C}"/>
              </a:ext>
            </a:extLst>
          </p:cNvPr>
          <p:cNvSpPr>
            <a:spLocks noGrp="1"/>
          </p:cNvSpPr>
          <p:nvPr>
            <p:ph type="sldNum" sz="quarter" idx="12"/>
          </p:nvPr>
        </p:nvSpPr>
        <p:spPr/>
        <p:txBody>
          <a:bodyPr/>
          <a:lstStyle/>
          <a:p>
            <a:fld id="{4FAB73BC-B049-4115-A692-8D63A059BFB8}" type="slidenum">
              <a:rPr lang="en-US" sz="2000" smtClean="0"/>
              <a:pPr/>
              <a:t>19</a:t>
            </a:fld>
            <a:endParaRPr lang="en-US" sz="2000" dirty="0"/>
          </a:p>
        </p:txBody>
      </p:sp>
      <p:pic>
        <p:nvPicPr>
          <p:cNvPr id="3" name="Picture 2">
            <a:extLst>
              <a:ext uri="{FF2B5EF4-FFF2-40B4-BE49-F238E27FC236}">
                <a16:creationId xmlns:a16="http://schemas.microsoft.com/office/drawing/2014/main" id="{324F466E-4361-6CAF-7D55-7F844742DBB0}"/>
              </a:ext>
            </a:extLst>
          </p:cNvPr>
          <p:cNvPicPr>
            <a:picLocks noChangeAspect="1"/>
          </p:cNvPicPr>
          <p:nvPr/>
        </p:nvPicPr>
        <p:blipFill>
          <a:blip r:embed="rId2"/>
          <a:stretch>
            <a:fillRect/>
          </a:stretch>
        </p:blipFill>
        <p:spPr>
          <a:xfrm>
            <a:off x="201311" y="416865"/>
            <a:ext cx="5696002" cy="5777458"/>
          </a:xfrm>
          <a:prstGeom prst="rect">
            <a:avLst/>
          </a:prstGeom>
        </p:spPr>
      </p:pic>
      <p:pic>
        <p:nvPicPr>
          <p:cNvPr id="4" name="Picture 3">
            <a:extLst>
              <a:ext uri="{FF2B5EF4-FFF2-40B4-BE49-F238E27FC236}">
                <a16:creationId xmlns:a16="http://schemas.microsoft.com/office/drawing/2014/main" id="{30FA42C4-8DE5-45D5-E5F3-C95E231FDAF9}"/>
              </a:ext>
            </a:extLst>
          </p:cNvPr>
          <p:cNvPicPr>
            <a:picLocks noChangeAspect="1"/>
          </p:cNvPicPr>
          <p:nvPr/>
        </p:nvPicPr>
        <p:blipFill>
          <a:blip r:embed="rId3"/>
          <a:stretch>
            <a:fillRect/>
          </a:stretch>
        </p:blipFill>
        <p:spPr>
          <a:xfrm>
            <a:off x="5997677" y="416865"/>
            <a:ext cx="5993012" cy="5777458"/>
          </a:xfrm>
          <a:prstGeom prst="rect">
            <a:avLst/>
          </a:prstGeom>
        </p:spPr>
      </p:pic>
    </p:spTree>
    <p:extLst>
      <p:ext uri="{BB962C8B-B14F-4D97-AF65-F5344CB8AC3E}">
        <p14:creationId xmlns:p14="http://schemas.microsoft.com/office/powerpoint/2010/main" val="37595125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D72BD-9948-AA87-2221-94B44384E3B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6F6F253-C49B-C610-B0C1-EB2379E62F56}"/>
              </a:ext>
            </a:extLst>
          </p:cNvPr>
          <p:cNvSpPr>
            <a:spLocks noGrp="1"/>
          </p:cNvSpPr>
          <p:nvPr>
            <p:ph type="sldNum" sz="quarter" idx="12"/>
          </p:nvPr>
        </p:nvSpPr>
        <p:spPr/>
        <p:txBody>
          <a:bodyPr/>
          <a:lstStyle/>
          <a:p>
            <a:fld id="{4FAB73BC-B049-4115-A692-8D63A059BFB8}" type="slidenum">
              <a:rPr lang="en-US" sz="2000" smtClean="0"/>
              <a:pPr/>
              <a:t>20</a:t>
            </a:fld>
            <a:endParaRPr lang="en-US" sz="2000" dirty="0"/>
          </a:p>
        </p:txBody>
      </p:sp>
      <p:sp>
        <p:nvSpPr>
          <p:cNvPr id="5" name="Title 1">
            <a:extLst>
              <a:ext uri="{FF2B5EF4-FFF2-40B4-BE49-F238E27FC236}">
                <a16:creationId xmlns:a16="http://schemas.microsoft.com/office/drawing/2014/main" id="{74C54704-392F-3E27-7A5D-52C3C4AD6395}"/>
              </a:ext>
            </a:extLst>
          </p:cNvPr>
          <p:cNvSpPr>
            <a:spLocks noGrp="1"/>
          </p:cNvSpPr>
          <p:nvPr>
            <p:ph type="title"/>
          </p:nvPr>
        </p:nvSpPr>
        <p:spPr>
          <a:xfrm>
            <a:off x="0" y="2369975"/>
            <a:ext cx="3405673" cy="1974114"/>
          </a:xfrm>
        </p:spPr>
        <p:txBody>
          <a:bodyPr>
            <a:normAutofit/>
          </a:bodyPr>
          <a:lstStyle/>
          <a:p>
            <a:pPr algn="ctr"/>
            <a:r>
              <a:rPr lang="en-US" sz="3600" b="1" dirty="0">
                <a:solidFill>
                  <a:schemeClr val="tx1"/>
                </a:solidFill>
                <a:latin typeface="Lexend Black" panose="020B0604020202020204" charset="0"/>
              </a:rPr>
              <a:t>EXPERIMENTAL ANALYSIS AND RESULTS</a:t>
            </a:r>
            <a:endParaRPr lang="en-IN" sz="3600" b="1" dirty="0">
              <a:solidFill>
                <a:schemeClr val="tx1"/>
              </a:solidFill>
              <a:latin typeface="Lexend Black" panose="020B0604020202020204" charset="0"/>
            </a:endParaRPr>
          </a:p>
        </p:txBody>
      </p:sp>
      <p:sp>
        <p:nvSpPr>
          <p:cNvPr id="2" name="Text Placeholder 1">
            <a:extLst>
              <a:ext uri="{FF2B5EF4-FFF2-40B4-BE49-F238E27FC236}">
                <a16:creationId xmlns:a16="http://schemas.microsoft.com/office/drawing/2014/main" id="{D4C9B88C-5C48-7E1D-3DF8-2BACA36C0370}"/>
              </a:ext>
            </a:extLst>
          </p:cNvPr>
          <p:cNvSpPr>
            <a:spLocks noGrp="1" noChangeArrowheads="1"/>
          </p:cNvSpPr>
          <p:nvPr>
            <p:ph type="body" idx="1"/>
          </p:nvPr>
        </p:nvSpPr>
        <p:spPr bwMode="auto">
          <a:xfrm>
            <a:off x="3715126" y="675204"/>
            <a:ext cx="7684472" cy="6046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Lexend Black" panose="020B0604020202020204"/>
              </a:rPr>
              <a:t>Logistic Regression achieved 98.36% accuracy, with only 1 false negative; excellent for simplicity and reliability. Cluster 0 had a recall of 95.65%, and Cluster 1 had 100% recall, indicating strong balance.</a:t>
            </a:r>
          </a:p>
          <a:p>
            <a:pPr marL="0" marR="0" lvl="0" indent="0" algn="just" defTabSz="914400" rtl="0" eaLnBrk="0" fontAlgn="base" latinLnBrk="0" hangingPunct="0">
              <a:lnSpc>
                <a:spcPct val="150000"/>
              </a:lnSpc>
              <a:spcBef>
                <a:spcPct val="0"/>
              </a:spcBef>
              <a:spcAft>
                <a:spcPct val="0"/>
              </a:spcAft>
              <a:buClrTx/>
              <a:buSzTx/>
              <a:tabLst/>
            </a:pPr>
            <a:endParaRPr kumimoji="0" lang="en-US" altLang="en-US" sz="2000" i="0" u="none" strike="noStrike" cap="none" normalizeH="0" baseline="0" dirty="0">
              <a:ln>
                <a:noFill/>
              </a:ln>
              <a:solidFill>
                <a:schemeClr val="tx1"/>
              </a:solidFill>
              <a:effectLst/>
              <a:latin typeface="Lexend Black" panose="020B0604020202020204"/>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Lexend Black" panose="020B0604020202020204"/>
              </a:rPr>
              <a:t>Decision Tree achieved 91.80% accuracy, with 4 false negatives for Cluster 0, showing a slight bias. Cluster 0 recall dropped to 81.82%, though precision remained high at 95%.</a:t>
            </a:r>
          </a:p>
          <a:p>
            <a:pPr marL="0" marR="0" lvl="0" indent="0" algn="just" defTabSz="914400" rtl="0" eaLnBrk="0" fontAlgn="base" latinLnBrk="0" hangingPunct="0">
              <a:lnSpc>
                <a:spcPct val="150000"/>
              </a:lnSpc>
              <a:spcBef>
                <a:spcPct val="0"/>
              </a:spcBef>
              <a:spcAft>
                <a:spcPct val="0"/>
              </a:spcAft>
              <a:buClrTx/>
              <a:buSzTx/>
              <a:buFontTx/>
              <a:buChar char="•"/>
              <a:tabLst/>
            </a:pPr>
            <a:endParaRPr lang="en-US" altLang="en-US" sz="2000" dirty="0">
              <a:solidFill>
                <a:schemeClr val="tx1"/>
              </a:solidFill>
              <a:latin typeface="Lexend Black" panose="020B0604020202020204"/>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Lexend Black" panose="020B0604020202020204"/>
              </a:rPr>
              <a:t>Random Forest matched Logistic Regression with 98.36% accuracy, also misclassifying only 1 instance. Achieved 100% recall for Cluster 1, showing strong generalization via ensemble learning. Cluster 0 had 95.65% recall, the same as Logistic Regression, ensuring consistency.</a:t>
            </a:r>
          </a:p>
          <a:p>
            <a:pPr marL="0" marR="0" lvl="0" indent="0" algn="just" defTabSz="914400" rtl="0" eaLnBrk="0" fontAlgn="base" latinLnBrk="0" hangingPunct="0">
              <a:lnSpc>
                <a:spcPct val="150000"/>
              </a:lnSpc>
              <a:spcBef>
                <a:spcPct val="0"/>
              </a:spcBef>
              <a:spcAft>
                <a:spcPct val="0"/>
              </a:spcAft>
              <a:buClrTx/>
              <a:buSzTx/>
              <a:buFontTx/>
              <a:buChar char="•"/>
              <a:tabLst/>
            </a:pPr>
            <a:endParaRPr lang="en-US" altLang="en-US" sz="2000" dirty="0">
              <a:solidFill>
                <a:schemeClr val="tx1"/>
              </a:solidFill>
              <a:latin typeface="Lexend Black" panose="020B0604020202020204"/>
            </a:endParaRPr>
          </a:p>
        </p:txBody>
      </p:sp>
    </p:spTree>
    <p:extLst>
      <p:ext uri="{BB962C8B-B14F-4D97-AF65-F5344CB8AC3E}">
        <p14:creationId xmlns:p14="http://schemas.microsoft.com/office/powerpoint/2010/main" val="17994527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B01EA-0ABB-A8B3-15ED-4606152E415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EBF345C-7CF0-7595-B745-A35731B7A141}"/>
              </a:ext>
            </a:extLst>
          </p:cNvPr>
          <p:cNvSpPr>
            <a:spLocks noGrp="1"/>
          </p:cNvSpPr>
          <p:nvPr>
            <p:ph type="sldNum" sz="quarter" idx="12"/>
          </p:nvPr>
        </p:nvSpPr>
        <p:spPr/>
        <p:txBody>
          <a:bodyPr/>
          <a:lstStyle/>
          <a:p>
            <a:fld id="{4FAB73BC-B049-4115-A692-8D63A059BFB8}" type="slidenum">
              <a:rPr lang="en-US" sz="2000" smtClean="0"/>
              <a:pPr/>
              <a:t>21</a:t>
            </a:fld>
            <a:endParaRPr lang="en-US" sz="2000" dirty="0"/>
          </a:p>
        </p:txBody>
      </p:sp>
      <p:sp>
        <p:nvSpPr>
          <p:cNvPr id="5" name="Title 1">
            <a:extLst>
              <a:ext uri="{FF2B5EF4-FFF2-40B4-BE49-F238E27FC236}">
                <a16:creationId xmlns:a16="http://schemas.microsoft.com/office/drawing/2014/main" id="{2AD6D8D1-C158-1A42-FE77-4EC4D4457430}"/>
              </a:ext>
            </a:extLst>
          </p:cNvPr>
          <p:cNvSpPr>
            <a:spLocks noGrp="1"/>
          </p:cNvSpPr>
          <p:nvPr>
            <p:ph type="title"/>
          </p:nvPr>
        </p:nvSpPr>
        <p:spPr>
          <a:xfrm>
            <a:off x="0" y="2369975"/>
            <a:ext cx="3405673" cy="1974114"/>
          </a:xfrm>
        </p:spPr>
        <p:txBody>
          <a:bodyPr>
            <a:normAutofit/>
          </a:bodyPr>
          <a:lstStyle/>
          <a:p>
            <a:pPr algn="ctr"/>
            <a:r>
              <a:rPr lang="en-US" sz="3600" b="1" dirty="0">
                <a:solidFill>
                  <a:schemeClr val="tx1"/>
                </a:solidFill>
                <a:latin typeface="Lexend Black" panose="020B0604020202020204" charset="0"/>
              </a:rPr>
              <a:t>EXPERIMENTAL ANALYSIS AND RESULTS</a:t>
            </a:r>
            <a:endParaRPr lang="en-IN" sz="3600" b="1" dirty="0">
              <a:solidFill>
                <a:schemeClr val="tx1"/>
              </a:solidFill>
              <a:latin typeface="Lexend Black" panose="020B0604020202020204" charset="0"/>
            </a:endParaRPr>
          </a:p>
        </p:txBody>
      </p:sp>
      <p:sp>
        <p:nvSpPr>
          <p:cNvPr id="2" name="Text Placeholder 1">
            <a:extLst>
              <a:ext uri="{FF2B5EF4-FFF2-40B4-BE49-F238E27FC236}">
                <a16:creationId xmlns:a16="http://schemas.microsoft.com/office/drawing/2014/main" id="{D380FBD7-3B6D-8DEB-14B2-F60D41185092}"/>
              </a:ext>
            </a:extLst>
          </p:cNvPr>
          <p:cNvSpPr>
            <a:spLocks noGrp="1" noChangeArrowheads="1"/>
          </p:cNvSpPr>
          <p:nvPr>
            <p:ph type="body" idx="1"/>
          </p:nvPr>
        </p:nvSpPr>
        <p:spPr bwMode="auto">
          <a:xfrm>
            <a:off x="3603366" y="799128"/>
            <a:ext cx="7684472" cy="1429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err="1">
                <a:ln>
                  <a:noFill/>
                </a:ln>
                <a:solidFill>
                  <a:schemeClr val="tx1"/>
                </a:solidFill>
                <a:effectLst/>
                <a:latin typeface="Lexend Black" panose="020B0604020202020204"/>
              </a:rPr>
              <a:t>XGBoost</a:t>
            </a:r>
            <a:r>
              <a:rPr kumimoji="0" lang="en-US" altLang="en-US" sz="2000" i="0" u="none" strike="noStrike" cap="none" normalizeH="0" baseline="0" dirty="0">
                <a:ln>
                  <a:noFill/>
                </a:ln>
                <a:solidFill>
                  <a:schemeClr val="tx1"/>
                </a:solidFill>
                <a:effectLst/>
                <a:latin typeface="Lexend Black" panose="020B0604020202020204"/>
              </a:rPr>
              <a:t> achieved a perfect 100% accuracy, with no misclassifications in either cluster. Both precision and recall were 100% for both clusters, suggesting flawless learning. </a:t>
            </a:r>
          </a:p>
        </p:txBody>
      </p:sp>
    </p:spTree>
    <p:extLst>
      <p:ext uri="{BB962C8B-B14F-4D97-AF65-F5344CB8AC3E}">
        <p14:creationId xmlns:p14="http://schemas.microsoft.com/office/powerpoint/2010/main" val="40141997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E0A0E-DA21-AD15-D48E-67D0322154D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4FCA459-85ED-B739-BD0C-5097C99F5576}"/>
              </a:ext>
            </a:extLst>
          </p:cNvPr>
          <p:cNvSpPr>
            <a:spLocks noGrp="1"/>
          </p:cNvSpPr>
          <p:nvPr>
            <p:ph type="sldNum" sz="quarter" idx="12"/>
          </p:nvPr>
        </p:nvSpPr>
        <p:spPr/>
        <p:txBody>
          <a:bodyPr/>
          <a:lstStyle/>
          <a:p>
            <a:fld id="{4FAB73BC-B049-4115-A692-8D63A059BFB8}" type="slidenum">
              <a:rPr lang="en-US" sz="2000" smtClean="0"/>
              <a:pPr/>
              <a:t>22</a:t>
            </a:fld>
            <a:endParaRPr lang="en-US" sz="2000" dirty="0"/>
          </a:p>
        </p:txBody>
      </p:sp>
      <p:pic>
        <p:nvPicPr>
          <p:cNvPr id="5" name="Picture 4">
            <a:extLst>
              <a:ext uri="{FF2B5EF4-FFF2-40B4-BE49-F238E27FC236}">
                <a16:creationId xmlns:a16="http://schemas.microsoft.com/office/drawing/2014/main" id="{FCBDD2B9-9FA4-C40D-CE20-824E3FDAC93B}"/>
              </a:ext>
            </a:extLst>
          </p:cNvPr>
          <p:cNvPicPr>
            <a:picLocks noChangeAspect="1"/>
          </p:cNvPicPr>
          <p:nvPr/>
        </p:nvPicPr>
        <p:blipFill>
          <a:blip r:embed="rId2"/>
          <a:stretch>
            <a:fillRect/>
          </a:stretch>
        </p:blipFill>
        <p:spPr>
          <a:xfrm>
            <a:off x="129160" y="829618"/>
            <a:ext cx="5966840" cy="5237496"/>
          </a:xfrm>
          <a:prstGeom prst="rect">
            <a:avLst/>
          </a:prstGeom>
        </p:spPr>
      </p:pic>
      <p:pic>
        <p:nvPicPr>
          <p:cNvPr id="6" name="Picture 5">
            <a:extLst>
              <a:ext uri="{FF2B5EF4-FFF2-40B4-BE49-F238E27FC236}">
                <a16:creationId xmlns:a16="http://schemas.microsoft.com/office/drawing/2014/main" id="{CC1C0A7F-E5BE-7619-6416-E1899D7F26E2}"/>
              </a:ext>
            </a:extLst>
          </p:cNvPr>
          <p:cNvPicPr>
            <a:picLocks noChangeAspect="1"/>
          </p:cNvPicPr>
          <p:nvPr/>
        </p:nvPicPr>
        <p:blipFill>
          <a:blip r:embed="rId3"/>
          <a:stretch>
            <a:fillRect/>
          </a:stretch>
        </p:blipFill>
        <p:spPr>
          <a:xfrm>
            <a:off x="5966840" y="829618"/>
            <a:ext cx="6225160" cy="5237496"/>
          </a:xfrm>
          <a:prstGeom prst="rect">
            <a:avLst/>
          </a:prstGeom>
        </p:spPr>
      </p:pic>
    </p:spTree>
    <p:extLst>
      <p:ext uri="{BB962C8B-B14F-4D97-AF65-F5344CB8AC3E}">
        <p14:creationId xmlns:p14="http://schemas.microsoft.com/office/powerpoint/2010/main" val="23221046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C0582-F29D-A01E-9971-8D5E4AE65E2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8F0849-FD58-FE0E-D557-7EB77A93BD14}"/>
              </a:ext>
            </a:extLst>
          </p:cNvPr>
          <p:cNvSpPr>
            <a:spLocks noGrp="1"/>
          </p:cNvSpPr>
          <p:nvPr>
            <p:ph type="sldNum" sz="quarter" idx="12"/>
          </p:nvPr>
        </p:nvSpPr>
        <p:spPr/>
        <p:txBody>
          <a:bodyPr/>
          <a:lstStyle/>
          <a:p>
            <a:fld id="{4FAB73BC-B049-4115-A692-8D63A059BFB8}" type="slidenum">
              <a:rPr lang="en-US" sz="2000" smtClean="0"/>
              <a:pPr/>
              <a:t>23</a:t>
            </a:fld>
            <a:endParaRPr lang="en-US" sz="2000" dirty="0"/>
          </a:p>
        </p:txBody>
      </p:sp>
      <p:pic>
        <p:nvPicPr>
          <p:cNvPr id="3" name="Picture 2">
            <a:extLst>
              <a:ext uri="{FF2B5EF4-FFF2-40B4-BE49-F238E27FC236}">
                <a16:creationId xmlns:a16="http://schemas.microsoft.com/office/drawing/2014/main" id="{06652D1B-CD3B-C5A6-6305-EA362CC9CF3C}"/>
              </a:ext>
            </a:extLst>
          </p:cNvPr>
          <p:cNvPicPr>
            <a:picLocks noChangeAspect="1"/>
          </p:cNvPicPr>
          <p:nvPr/>
        </p:nvPicPr>
        <p:blipFill>
          <a:blip r:embed="rId2"/>
          <a:stretch>
            <a:fillRect/>
          </a:stretch>
        </p:blipFill>
        <p:spPr>
          <a:xfrm>
            <a:off x="-1" y="825910"/>
            <a:ext cx="6096001" cy="5132438"/>
          </a:xfrm>
          <a:prstGeom prst="rect">
            <a:avLst/>
          </a:prstGeom>
        </p:spPr>
      </p:pic>
      <p:pic>
        <p:nvPicPr>
          <p:cNvPr id="12" name="Picture 11">
            <a:extLst>
              <a:ext uri="{FF2B5EF4-FFF2-40B4-BE49-F238E27FC236}">
                <a16:creationId xmlns:a16="http://schemas.microsoft.com/office/drawing/2014/main" id="{DA30AB17-6BAF-2780-A2CA-689F73EDCEE7}"/>
              </a:ext>
            </a:extLst>
          </p:cNvPr>
          <p:cNvPicPr>
            <a:picLocks noChangeAspect="1"/>
          </p:cNvPicPr>
          <p:nvPr/>
        </p:nvPicPr>
        <p:blipFill>
          <a:blip r:embed="rId3"/>
          <a:stretch>
            <a:fillRect/>
          </a:stretch>
        </p:blipFill>
        <p:spPr>
          <a:xfrm>
            <a:off x="6096000" y="825910"/>
            <a:ext cx="6096000" cy="5029199"/>
          </a:xfrm>
          <a:prstGeom prst="rect">
            <a:avLst/>
          </a:prstGeom>
        </p:spPr>
      </p:pic>
    </p:spTree>
    <p:extLst>
      <p:ext uri="{BB962C8B-B14F-4D97-AF65-F5344CB8AC3E}">
        <p14:creationId xmlns:p14="http://schemas.microsoft.com/office/powerpoint/2010/main" val="17214301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56BC3-1B6E-B679-03DF-47998E328FB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10388F4-1A19-EE6F-5E2A-6D54CAC8A835}"/>
              </a:ext>
            </a:extLst>
          </p:cNvPr>
          <p:cNvSpPr>
            <a:spLocks noGrp="1"/>
          </p:cNvSpPr>
          <p:nvPr>
            <p:ph type="sldNum" sz="quarter" idx="12"/>
          </p:nvPr>
        </p:nvSpPr>
        <p:spPr/>
        <p:txBody>
          <a:bodyPr/>
          <a:lstStyle/>
          <a:p>
            <a:fld id="{4FAB73BC-B049-4115-A692-8D63A059BFB8}" type="slidenum">
              <a:rPr lang="en-US" sz="2000" smtClean="0"/>
              <a:pPr/>
              <a:t>24</a:t>
            </a:fld>
            <a:endParaRPr lang="en-US" sz="2000" dirty="0"/>
          </a:p>
        </p:txBody>
      </p:sp>
      <p:sp>
        <p:nvSpPr>
          <p:cNvPr id="5" name="Title 1">
            <a:extLst>
              <a:ext uri="{FF2B5EF4-FFF2-40B4-BE49-F238E27FC236}">
                <a16:creationId xmlns:a16="http://schemas.microsoft.com/office/drawing/2014/main" id="{210F1FA3-5077-3EC9-22D6-F68C041431AE}"/>
              </a:ext>
            </a:extLst>
          </p:cNvPr>
          <p:cNvSpPr>
            <a:spLocks noGrp="1"/>
          </p:cNvSpPr>
          <p:nvPr>
            <p:ph type="title"/>
          </p:nvPr>
        </p:nvSpPr>
        <p:spPr>
          <a:xfrm>
            <a:off x="0" y="2369975"/>
            <a:ext cx="3405673" cy="1974114"/>
          </a:xfrm>
        </p:spPr>
        <p:txBody>
          <a:bodyPr>
            <a:normAutofit/>
          </a:bodyPr>
          <a:lstStyle/>
          <a:p>
            <a:pPr algn="ctr"/>
            <a:r>
              <a:rPr lang="en-US" sz="3600" b="1" dirty="0">
                <a:solidFill>
                  <a:schemeClr val="tx1"/>
                </a:solidFill>
                <a:latin typeface="Lexend Black" panose="020B0604020202020204" charset="0"/>
              </a:rPr>
              <a:t>EXPERIMENTAL ANALYSIS AND RESULTS</a:t>
            </a:r>
            <a:endParaRPr lang="en-IN" sz="3600" b="1" dirty="0">
              <a:solidFill>
                <a:schemeClr val="tx1"/>
              </a:solidFill>
              <a:latin typeface="Lexend Black" panose="020B0604020202020204" charset="0"/>
            </a:endParaRPr>
          </a:p>
        </p:txBody>
      </p:sp>
      <p:sp>
        <p:nvSpPr>
          <p:cNvPr id="2" name="Text Placeholder 1">
            <a:extLst>
              <a:ext uri="{FF2B5EF4-FFF2-40B4-BE49-F238E27FC236}">
                <a16:creationId xmlns:a16="http://schemas.microsoft.com/office/drawing/2014/main" id="{6C12A3A5-0756-D27E-7F1C-1E008CFA3C01}"/>
              </a:ext>
            </a:extLst>
          </p:cNvPr>
          <p:cNvSpPr>
            <a:spLocks noGrp="1" noChangeArrowheads="1"/>
          </p:cNvSpPr>
          <p:nvPr>
            <p:ph type="body" idx="1"/>
          </p:nvPr>
        </p:nvSpPr>
        <p:spPr bwMode="auto">
          <a:xfrm>
            <a:off x="3715126" y="771744"/>
            <a:ext cx="7684472" cy="5584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Lexend Black" panose="020B0604020202020204"/>
              </a:rPr>
              <a:t>To understand students' cognitive patterns, average scores for five major CBT distortions were analyzed. </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Lexend Black" panose="020B0604020202020204"/>
              </a:rPr>
              <a:t>Black &amp; White Thinking had the highest average score (1.92), indicating a common tendency to view situations in extremes. </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Lexend Black" panose="020B0604020202020204"/>
              </a:rPr>
              <a:t>Other distortions like Personalization and Should Statements followed closely.</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Lexend Black" panose="020B0604020202020204"/>
              </a:rPr>
              <a:t> Cluster 0 showed the highest frequency of Black &amp; White Thinking, along with elevated anxiety (3.01) and depression (2.77) scores. </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Lexend Black" panose="020B0604020202020204"/>
              </a:rPr>
              <a:t>This identifies Cluster 0 as a high-risk group needing focused mental health support.</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Lexend Black" panose="020B0604020202020204"/>
            </a:endParaRP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2000" i="0" u="none" strike="noStrike" cap="none" normalizeH="0" baseline="0" dirty="0">
              <a:ln>
                <a:noFill/>
              </a:ln>
              <a:solidFill>
                <a:schemeClr val="tx1"/>
              </a:solidFill>
              <a:effectLst/>
              <a:latin typeface="Lexend Black" panose="020B0604020202020204"/>
            </a:endParaRPr>
          </a:p>
        </p:txBody>
      </p:sp>
    </p:spTree>
    <p:extLst>
      <p:ext uri="{BB962C8B-B14F-4D97-AF65-F5344CB8AC3E}">
        <p14:creationId xmlns:p14="http://schemas.microsoft.com/office/powerpoint/2010/main" val="30807924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44B1F-ECBB-E6AB-F874-0B7D5BAAE2C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C21932B-F0E9-EDCD-F91C-B1FB7863C4DE}"/>
              </a:ext>
            </a:extLst>
          </p:cNvPr>
          <p:cNvSpPr>
            <a:spLocks noGrp="1"/>
          </p:cNvSpPr>
          <p:nvPr>
            <p:ph type="sldNum" sz="quarter" idx="12"/>
          </p:nvPr>
        </p:nvSpPr>
        <p:spPr/>
        <p:txBody>
          <a:bodyPr/>
          <a:lstStyle/>
          <a:p>
            <a:fld id="{4FAB73BC-B049-4115-A692-8D63A059BFB8}" type="slidenum">
              <a:rPr lang="en-US" sz="2000" smtClean="0"/>
              <a:pPr/>
              <a:t>25</a:t>
            </a:fld>
            <a:endParaRPr lang="en-US" sz="2000" dirty="0"/>
          </a:p>
        </p:txBody>
      </p:sp>
      <p:sp>
        <p:nvSpPr>
          <p:cNvPr id="5" name="Title 1">
            <a:extLst>
              <a:ext uri="{FF2B5EF4-FFF2-40B4-BE49-F238E27FC236}">
                <a16:creationId xmlns:a16="http://schemas.microsoft.com/office/drawing/2014/main" id="{B820434B-F497-C694-1D95-0A1C90E364A5}"/>
              </a:ext>
            </a:extLst>
          </p:cNvPr>
          <p:cNvSpPr txBox="1">
            <a:spLocks/>
          </p:cNvSpPr>
          <p:nvPr/>
        </p:nvSpPr>
        <p:spPr>
          <a:xfrm>
            <a:off x="9135662" y="2489220"/>
            <a:ext cx="3162084" cy="1504282"/>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5900" b="0" kern="1200" spc="-100" baseline="0">
                <a:solidFill>
                  <a:schemeClr val="tx1">
                    <a:lumMod val="65000"/>
                    <a:lumOff val="35000"/>
                  </a:schemeClr>
                </a:solidFill>
                <a:latin typeface="+mj-lt"/>
                <a:ea typeface="+mj-ea"/>
                <a:cs typeface="+mj-cs"/>
              </a:defRPr>
            </a:lvl1pPr>
          </a:lstStyle>
          <a:p>
            <a:pPr algn="ctr"/>
            <a:endParaRPr lang="en-IN" sz="4000" b="1" dirty="0">
              <a:latin typeface="Lexend Black" panose="020B0604020202020204" charset="0"/>
            </a:endParaRPr>
          </a:p>
        </p:txBody>
      </p:sp>
      <p:sp>
        <p:nvSpPr>
          <p:cNvPr id="12" name="TextBox 11">
            <a:extLst>
              <a:ext uri="{FF2B5EF4-FFF2-40B4-BE49-F238E27FC236}">
                <a16:creationId xmlns:a16="http://schemas.microsoft.com/office/drawing/2014/main" id="{4EFCD082-52B5-E1A7-5C7F-9436B9A19E06}"/>
              </a:ext>
            </a:extLst>
          </p:cNvPr>
          <p:cNvSpPr txBox="1"/>
          <p:nvPr/>
        </p:nvSpPr>
        <p:spPr>
          <a:xfrm>
            <a:off x="209939" y="766732"/>
            <a:ext cx="8682134" cy="4661276"/>
          </a:xfrm>
          <a:prstGeom prst="rect">
            <a:avLst/>
          </a:prstGeom>
          <a:noFill/>
        </p:spPr>
        <p:txBody>
          <a:bodyPr wrap="square">
            <a:spAutoFit/>
          </a:bodyPr>
          <a:lstStyle/>
          <a:p>
            <a:pPr marL="495300" indent="-342900" algn="just">
              <a:lnSpc>
                <a:spcPct val="150000"/>
              </a:lnSpc>
              <a:buFont typeface="Arial" panose="020B0604020202020204" pitchFamily="34" charset="0"/>
              <a:buChar char="•"/>
            </a:pPr>
            <a:r>
              <a:rPr lang="en-US" sz="2000" dirty="0">
                <a:solidFill>
                  <a:schemeClr val="tx1">
                    <a:lumMod val="65000"/>
                    <a:lumOff val="35000"/>
                  </a:schemeClr>
                </a:solidFill>
                <a:latin typeface="Lexend Black" panose="020B0604020202020204"/>
              </a:rPr>
              <a:t>This study aimed to explore mental health patterns among students using CBT-based insights and machine learning techniques.</a:t>
            </a:r>
          </a:p>
          <a:p>
            <a:pPr marL="495300" indent="-342900" algn="just">
              <a:lnSpc>
                <a:spcPct val="150000"/>
              </a:lnSpc>
              <a:buFont typeface="Arial" panose="020B0604020202020204" pitchFamily="34" charset="0"/>
              <a:buChar char="•"/>
            </a:pPr>
            <a:r>
              <a:rPr lang="en-US" sz="2000" dirty="0">
                <a:solidFill>
                  <a:schemeClr val="tx1">
                    <a:lumMod val="65000"/>
                    <a:lumOff val="35000"/>
                  </a:schemeClr>
                </a:solidFill>
                <a:latin typeface="Lexend Black" panose="020B0604020202020204"/>
              </a:rPr>
              <a:t>Black &amp; White Thinking emerged as the most common cognitive distortion, with an average score of 1.92. Such distortions are linked to heightened anxiety and depression symptoms in students.</a:t>
            </a:r>
          </a:p>
          <a:p>
            <a:pPr marL="495300" indent="-342900" algn="just">
              <a:lnSpc>
                <a:spcPct val="150000"/>
              </a:lnSpc>
              <a:buFont typeface="Arial" panose="020B0604020202020204" pitchFamily="34" charset="0"/>
              <a:buChar char="•"/>
            </a:pPr>
            <a:r>
              <a:rPr lang="en-US" sz="2000" dirty="0">
                <a:solidFill>
                  <a:schemeClr val="tx1">
                    <a:lumMod val="65000"/>
                    <a:lumOff val="35000"/>
                  </a:schemeClr>
                </a:solidFill>
                <a:latin typeface="Lexend Black" panose="020B0604020202020204"/>
              </a:rPr>
              <a:t>K-Means clustering effectively grouped students into distinct mental health clusters.</a:t>
            </a:r>
          </a:p>
          <a:p>
            <a:pPr marL="495300" indent="-342900" algn="just">
              <a:lnSpc>
                <a:spcPct val="150000"/>
              </a:lnSpc>
              <a:buFont typeface="Arial" panose="020B0604020202020204" pitchFamily="34" charset="0"/>
              <a:buChar char="•"/>
            </a:pPr>
            <a:r>
              <a:rPr lang="en-US" sz="2000" dirty="0" err="1">
                <a:solidFill>
                  <a:schemeClr val="tx1">
                    <a:lumMod val="65000"/>
                    <a:lumOff val="35000"/>
                  </a:schemeClr>
                </a:solidFill>
                <a:latin typeface="Lexend Black" panose="020B0604020202020204"/>
              </a:rPr>
              <a:t>XGBoost</a:t>
            </a:r>
            <a:r>
              <a:rPr lang="en-US" sz="2000" dirty="0">
                <a:solidFill>
                  <a:schemeClr val="tx1">
                    <a:lumMod val="65000"/>
                    <a:lumOff val="35000"/>
                  </a:schemeClr>
                </a:solidFill>
                <a:latin typeface="Lexend Black" panose="020B0604020202020204"/>
              </a:rPr>
              <a:t> achieved perfect classification accuracy, showing strong potential for real-world use. Cluster 0 was identified as a high-risk group with severe emotional distress and distortions. </a:t>
            </a:r>
          </a:p>
        </p:txBody>
      </p:sp>
      <p:sp>
        <p:nvSpPr>
          <p:cNvPr id="13" name="Title 1">
            <a:extLst>
              <a:ext uri="{FF2B5EF4-FFF2-40B4-BE49-F238E27FC236}">
                <a16:creationId xmlns:a16="http://schemas.microsoft.com/office/drawing/2014/main" id="{4C7EE806-58AD-07FC-B465-5372149986E8}"/>
              </a:ext>
            </a:extLst>
          </p:cNvPr>
          <p:cNvSpPr txBox="1">
            <a:spLocks/>
          </p:cNvSpPr>
          <p:nvPr/>
        </p:nvSpPr>
        <p:spPr>
          <a:xfrm>
            <a:off x="9013867" y="2774831"/>
            <a:ext cx="3405673" cy="1069457"/>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5900" kern="1200" spc="-100" baseline="0">
                <a:solidFill>
                  <a:srgbClr val="FFFFFF"/>
                </a:solidFill>
                <a:latin typeface="+mj-lt"/>
                <a:ea typeface="+mj-ea"/>
                <a:cs typeface="+mj-cs"/>
              </a:defRPr>
            </a:lvl1pPr>
          </a:lstStyle>
          <a:p>
            <a:pPr algn="ctr"/>
            <a:r>
              <a:rPr lang="en-US" sz="3600" b="1" dirty="0">
                <a:solidFill>
                  <a:schemeClr val="tx1">
                    <a:lumMod val="65000"/>
                    <a:lumOff val="35000"/>
                  </a:schemeClr>
                </a:solidFill>
                <a:latin typeface="Lexend Black" panose="020B0604020202020204" charset="0"/>
              </a:rPr>
              <a:t>CONCLUSION</a:t>
            </a:r>
            <a:endParaRPr lang="en-IN" sz="3600" b="1" dirty="0">
              <a:solidFill>
                <a:schemeClr val="tx1">
                  <a:lumMod val="65000"/>
                  <a:lumOff val="35000"/>
                </a:schemeClr>
              </a:solidFill>
              <a:latin typeface="Lexend Black" panose="020B0604020202020204" charset="0"/>
            </a:endParaRPr>
          </a:p>
        </p:txBody>
      </p:sp>
    </p:spTree>
    <p:extLst>
      <p:ext uri="{BB962C8B-B14F-4D97-AF65-F5344CB8AC3E}">
        <p14:creationId xmlns:p14="http://schemas.microsoft.com/office/powerpoint/2010/main" val="433602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355D8-FB44-CC02-350A-0DEB2586C46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7E4089D-6C3F-22BD-E515-95767EDEE096}"/>
              </a:ext>
            </a:extLst>
          </p:cNvPr>
          <p:cNvSpPr>
            <a:spLocks noGrp="1"/>
          </p:cNvSpPr>
          <p:nvPr>
            <p:ph type="sldNum" sz="quarter" idx="12"/>
          </p:nvPr>
        </p:nvSpPr>
        <p:spPr/>
        <p:txBody>
          <a:bodyPr/>
          <a:lstStyle/>
          <a:p>
            <a:fld id="{4FAB73BC-B049-4115-A692-8D63A059BFB8}" type="slidenum">
              <a:rPr lang="en-US" sz="2000" smtClean="0"/>
              <a:pPr/>
              <a:t>26</a:t>
            </a:fld>
            <a:endParaRPr lang="en-US" sz="2000" dirty="0"/>
          </a:p>
        </p:txBody>
      </p:sp>
      <p:sp>
        <p:nvSpPr>
          <p:cNvPr id="5" name="Title 1">
            <a:extLst>
              <a:ext uri="{FF2B5EF4-FFF2-40B4-BE49-F238E27FC236}">
                <a16:creationId xmlns:a16="http://schemas.microsoft.com/office/drawing/2014/main" id="{A225406E-9C78-3D9B-A863-17C74648D5B6}"/>
              </a:ext>
            </a:extLst>
          </p:cNvPr>
          <p:cNvSpPr txBox="1">
            <a:spLocks/>
          </p:cNvSpPr>
          <p:nvPr/>
        </p:nvSpPr>
        <p:spPr>
          <a:xfrm>
            <a:off x="9135662" y="2489220"/>
            <a:ext cx="3162084" cy="1504282"/>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5900" b="0" kern="1200" spc="-100" baseline="0">
                <a:solidFill>
                  <a:schemeClr val="tx1">
                    <a:lumMod val="65000"/>
                    <a:lumOff val="35000"/>
                  </a:schemeClr>
                </a:solidFill>
                <a:latin typeface="+mj-lt"/>
                <a:ea typeface="+mj-ea"/>
                <a:cs typeface="+mj-cs"/>
              </a:defRPr>
            </a:lvl1pPr>
          </a:lstStyle>
          <a:p>
            <a:pPr algn="ctr"/>
            <a:endParaRPr lang="en-IN" sz="4000" b="1" dirty="0">
              <a:latin typeface="Lexend Black" panose="020B0604020202020204" charset="0"/>
            </a:endParaRPr>
          </a:p>
        </p:txBody>
      </p:sp>
      <p:sp>
        <p:nvSpPr>
          <p:cNvPr id="12" name="TextBox 11">
            <a:extLst>
              <a:ext uri="{FF2B5EF4-FFF2-40B4-BE49-F238E27FC236}">
                <a16:creationId xmlns:a16="http://schemas.microsoft.com/office/drawing/2014/main" id="{4E68EDEE-6A81-71A9-4212-84101A4492FD}"/>
              </a:ext>
            </a:extLst>
          </p:cNvPr>
          <p:cNvSpPr txBox="1"/>
          <p:nvPr/>
        </p:nvSpPr>
        <p:spPr>
          <a:xfrm>
            <a:off x="209939" y="766732"/>
            <a:ext cx="8682134" cy="3276282"/>
          </a:xfrm>
          <a:prstGeom prst="rect">
            <a:avLst/>
          </a:prstGeom>
          <a:noFill/>
        </p:spPr>
        <p:txBody>
          <a:bodyPr wrap="square">
            <a:spAutoFit/>
          </a:bodyPr>
          <a:lstStyle/>
          <a:p>
            <a:pPr marL="495300" indent="-342900" algn="just">
              <a:lnSpc>
                <a:spcPct val="150000"/>
              </a:lnSpc>
              <a:buFont typeface="Arial" panose="020B0604020202020204" pitchFamily="34" charset="0"/>
              <a:buChar char="•"/>
            </a:pPr>
            <a:r>
              <a:rPr lang="en-US" sz="2000" dirty="0">
                <a:latin typeface="Lexend Black" panose="020B0604020202020204"/>
              </a:rPr>
              <a:t>CBT-based interventions like cognitive restructuring and thought journaling are recommended.</a:t>
            </a:r>
          </a:p>
          <a:p>
            <a:pPr marL="495300" indent="-342900" algn="just">
              <a:lnSpc>
                <a:spcPct val="150000"/>
              </a:lnSpc>
              <a:buFont typeface="Arial" panose="020B0604020202020204" pitchFamily="34" charset="0"/>
              <a:buChar char="•"/>
            </a:pPr>
            <a:r>
              <a:rPr lang="en-US" sz="2000" dirty="0">
                <a:latin typeface="Lexend Black" panose="020B0604020202020204"/>
              </a:rPr>
              <a:t>Mindfulness workshops and regular mental health screenings can enhance emotional resilience. </a:t>
            </a:r>
          </a:p>
          <a:p>
            <a:pPr marL="495300" indent="-342900" algn="just">
              <a:lnSpc>
                <a:spcPct val="150000"/>
              </a:lnSpc>
              <a:buFont typeface="Arial" panose="020B0604020202020204" pitchFamily="34" charset="0"/>
              <a:buChar char="•"/>
            </a:pPr>
            <a:r>
              <a:rPr lang="en-US" sz="2000" dirty="0">
                <a:latin typeface="Lexend Black" panose="020B0604020202020204"/>
              </a:rPr>
              <a:t>Collaboration with mental health professionals is essential for personalized student care. The study supports a data-driven approach for early detection and targeted support in educational settings.</a:t>
            </a:r>
          </a:p>
        </p:txBody>
      </p:sp>
      <p:sp>
        <p:nvSpPr>
          <p:cNvPr id="13" name="Title 1">
            <a:extLst>
              <a:ext uri="{FF2B5EF4-FFF2-40B4-BE49-F238E27FC236}">
                <a16:creationId xmlns:a16="http://schemas.microsoft.com/office/drawing/2014/main" id="{7F1BAD62-D95F-7146-18E9-FD7426541833}"/>
              </a:ext>
            </a:extLst>
          </p:cNvPr>
          <p:cNvSpPr txBox="1">
            <a:spLocks/>
          </p:cNvSpPr>
          <p:nvPr/>
        </p:nvSpPr>
        <p:spPr>
          <a:xfrm>
            <a:off x="9013867" y="2774831"/>
            <a:ext cx="3405673" cy="1069457"/>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5900" kern="1200" spc="-100" baseline="0">
                <a:solidFill>
                  <a:srgbClr val="FFFFFF"/>
                </a:solidFill>
                <a:latin typeface="+mj-lt"/>
                <a:ea typeface="+mj-ea"/>
                <a:cs typeface="+mj-cs"/>
              </a:defRPr>
            </a:lvl1pPr>
          </a:lstStyle>
          <a:p>
            <a:pPr algn="ctr"/>
            <a:r>
              <a:rPr lang="en-US" sz="3600" b="1" dirty="0">
                <a:solidFill>
                  <a:schemeClr val="tx1"/>
                </a:solidFill>
                <a:latin typeface="Lexend Black" panose="020B0604020202020204" charset="0"/>
              </a:rPr>
              <a:t>CONCLUSION</a:t>
            </a:r>
            <a:endParaRPr lang="en-IN" sz="3600" b="1" dirty="0">
              <a:solidFill>
                <a:schemeClr val="tx1"/>
              </a:solidFill>
              <a:latin typeface="Lexend Black" panose="020B0604020202020204" charset="0"/>
            </a:endParaRPr>
          </a:p>
        </p:txBody>
      </p:sp>
    </p:spTree>
    <p:extLst>
      <p:ext uri="{BB962C8B-B14F-4D97-AF65-F5344CB8AC3E}">
        <p14:creationId xmlns:p14="http://schemas.microsoft.com/office/powerpoint/2010/main" val="7922434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338257E-74F6-B591-ADC5-8889C23786DC}"/>
              </a:ext>
            </a:extLst>
          </p:cNvPr>
          <p:cNvSpPr>
            <a:spLocks noGrp="1"/>
          </p:cNvSpPr>
          <p:nvPr>
            <p:ph type="body" idx="1"/>
          </p:nvPr>
        </p:nvSpPr>
        <p:spPr>
          <a:xfrm>
            <a:off x="3615612" y="763057"/>
            <a:ext cx="8047653" cy="6499594"/>
          </a:xfrm>
        </p:spPr>
        <p:txBody>
          <a:bodyPr>
            <a:noAutofit/>
          </a:bodyPr>
          <a:lstStyle/>
          <a:p>
            <a:pPr algn="just"/>
            <a:r>
              <a:rPr lang="en-IN" b="1" i="0" u="none" strike="noStrike" baseline="0" dirty="0">
                <a:solidFill>
                  <a:schemeClr val="tx1"/>
                </a:solidFill>
                <a:latin typeface="Lexend Black"/>
              </a:rPr>
              <a:t>Research Papers </a:t>
            </a:r>
            <a:endParaRPr lang="en-IN" b="0" i="0" u="none" strike="noStrike" baseline="0" dirty="0">
              <a:solidFill>
                <a:schemeClr val="tx1"/>
              </a:solidFill>
              <a:latin typeface="Lexend Black"/>
            </a:endParaRPr>
          </a:p>
          <a:p>
            <a:pPr marL="342900" indent="-342900" algn="just">
              <a:lnSpc>
                <a:spcPct val="150000"/>
              </a:lnSpc>
              <a:buFont typeface="Arial" panose="020B0604020202020204" pitchFamily="34" charset="0"/>
              <a:buChar char="•"/>
            </a:pPr>
            <a:r>
              <a:rPr lang="en-IN" sz="2000" b="0" i="0" u="none" strike="noStrike" baseline="0" dirty="0">
                <a:solidFill>
                  <a:schemeClr val="tx1"/>
                </a:solidFill>
                <a:latin typeface="Lexend Black"/>
              </a:rPr>
              <a:t> Joyce H. S. You , Scotty W. C. Luk, Dilys Y. W. Chow, </a:t>
            </a:r>
            <a:r>
              <a:rPr lang="en-IN" sz="2000" b="0" i="0" u="none" strike="noStrike" baseline="0" dirty="0" err="1">
                <a:solidFill>
                  <a:schemeClr val="tx1"/>
                </a:solidFill>
                <a:latin typeface="Lexend Black"/>
              </a:rPr>
              <a:t>Xinchan</a:t>
            </a:r>
            <a:r>
              <a:rPr lang="en-IN" sz="2000" b="0" i="0" u="none" strike="noStrike" baseline="0" dirty="0">
                <a:solidFill>
                  <a:schemeClr val="tx1"/>
                </a:solidFill>
                <a:latin typeface="Lexend Black"/>
              </a:rPr>
              <a:t> Jiang, Arthur D. P. Mak, Winnie W. S. Mark , Efficacy and Cost-Effectiveness Analysis of Internet-Based Cognitive </a:t>
            </a:r>
            <a:r>
              <a:rPr lang="en-IN" sz="2000" b="0" i="0" u="none" strike="noStrike" baseline="0" dirty="0" err="1">
                <a:solidFill>
                  <a:schemeClr val="tx1"/>
                </a:solidFill>
                <a:latin typeface="Lexend Black"/>
              </a:rPr>
              <a:t>Behavioral</a:t>
            </a:r>
            <a:r>
              <a:rPr lang="en-IN" sz="2000" b="0" i="0" u="none" strike="noStrike" baseline="0" dirty="0">
                <a:solidFill>
                  <a:schemeClr val="tx1"/>
                </a:solidFill>
                <a:latin typeface="Lexend Black"/>
              </a:rPr>
              <a:t> Therapy for Obsessive-Compulsive Disorder: Randomized Controlled Trial (Published: May 5, 2022 ) </a:t>
            </a:r>
          </a:p>
          <a:p>
            <a:pPr marL="342900" indent="-342900" algn="just">
              <a:lnSpc>
                <a:spcPct val="150000"/>
              </a:lnSpc>
              <a:buFont typeface="Arial" panose="020B0604020202020204" pitchFamily="34" charset="0"/>
              <a:buChar char="•"/>
            </a:pPr>
            <a:r>
              <a:rPr lang="en-US" sz="2000" b="0" i="0" u="none" strike="noStrike" baseline="0" dirty="0">
                <a:solidFill>
                  <a:schemeClr val="tx1"/>
                </a:solidFill>
                <a:latin typeface="Lexend Black"/>
              </a:rPr>
              <a:t>Z. Chen, R. Yang, S. Fu, and N. Zong, ―Detecting Reddit Users with Depression Using a Hybrid Neural Network, 2023. </a:t>
            </a:r>
          </a:p>
          <a:p>
            <a:pPr marL="342900" indent="-342900" algn="just">
              <a:lnSpc>
                <a:spcPct val="150000"/>
              </a:lnSpc>
              <a:buFont typeface="Arial" panose="020B0604020202020204" pitchFamily="34" charset="0"/>
              <a:buChar char="•"/>
            </a:pPr>
            <a:r>
              <a:rPr lang="en-IN" sz="2000" b="0" i="0" u="none" strike="noStrike" baseline="0" dirty="0" err="1">
                <a:solidFill>
                  <a:schemeClr val="tx1"/>
                </a:solidFill>
                <a:latin typeface="Lexend Black"/>
              </a:rPr>
              <a:t>Khizra</a:t>
            </a:r>
            <a:r>
              <a:rPr lang="en-IN" sz="2000" b="0" i="0" u="none" strike="noStrike" baseline="0" dirty="0">
                <a:solidFill>
                  <a:schemeClr val="tx1"/>
                </a:solidFill>
                <a:latin typeface="Lexend Black"/>
              </a:rPr>
              <a:t> Khurshid1, Rabia Mushtaq2, Umara Rauf3, Nida Anwar4, Qasir Abbas1*, Sumayah Aljhani5, Zoobia Ramzan4 and Mafia Shahzadi6CBT’s Impact on Procrastination, Burnout, and Anxiety in Adolescents (Published: 3 February, 2025) </a:t>
            </a:r>
          </a:p>
        </p:txBody>
      </p:sp>
      <p:sp>
        <p:nvSpPr>
          <p:cNvPr id="4" name="Slide Number Placeholder 3">
            <a:extLst>
              <a:ext uri="{FF2B5EF4-FFF2-40B4-BE49-F238E27FC236}">
                <a16:creationId xmlns:a16="http://schemas.microsoft.com/office/drawing/2014/main" id="{79DB55B3-86FE-033B-D4BB-606E9C18C03A}"/>
              </a:ext>
            </a:extLst>
          </p:cNvPr>
          <p:cNvSpPr>
            <a:spLocks noGrp="1"/>
          </p:cNvSpPr>
          <p:nvPr>
            <p:ph type="sldNum" sz="quarter" idx="12"/>
          </p:nvPr>
        </p:nvSpPr>
        <p:spPr/>
        <p:txBody>
          <a:bodyPr/>
          <a:lstStyle/>
          <a:p>
            <a:fld id="{4FAB73BC-B049-4115-A692-8D63A059BFB8}" type="slidenum">
              <a:rPr lang="en-US" sz="2000" smtClean="0"/>
              <a:pPr/>
              <a:t>27</a:t>
            </a:fld>
            <a:endParaRPr lang="en-US" sz="2000" dirty="0"/>
          </a:p>
        </p:txBody>
      </p:sp>
      <p:sp>
        <p:nvSpPr>
          <p:cNvPr id="5" name="Title 1">
            <a:extLst>
              <a:ext uri="{FF2B5EF4-FFF2-40B4-BE49-F238E27FC236}">
                <a16:creationId xmlns:a16="http://schemas.microsoft.com/office/drawing/2014/main" id="{F5629BBF-C008-847A-0607-AE1BA082F47D}"/>
              </a:ext>
            </a:extLst>
          </p:cNvPr>
          <p:cNvSpPr txBox="1">
            <a:spLocks/>
          </p:cNvSpPr>
          <p:nvPr/>
        </p:nvSpPr>
        <p:spPr>
          <a:xfrm>
            <a:off x="0" y="2749646"/>
            <a:ext cx="3405673" cy="1069457"/>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5900" kern="1200" spc="-100" baseline="0">
                <a:solidFill>
                  <a:srgbClr val="FFFFFF"/>
                </a:solidFill>
                <a:latin typeface="+mj-lt"/>
                <a:ea typeface="+mj-ea"/>
                <a:cs typeface="+mj-cs"/>
              </a:defRPr>
            </a:lvl1pPr>
          </a:lstStyle>
          <a:p>
            <a:pPr algn="ctr"/>
            <a:r>
              <a:rPr lang="en-US" sz="4500" b="1" dirty="0">
                <a:solidFill>
                  <a:schemeClr val="tx1"/>
                </a:solidFill>
                <a:latin typeface="Lexend Black" panose="020B0604020202020204" charset="0"/>
              </a:rPr>
              <a:t>REFERENCES</a:t>
            </a:r>
            <a:endParaRPr lang="en-IN" sz="4500" b="1" dirty="0">
              <a:solidFill>
                <a:schemeClr val="tx1"/>
              </a:solidFill>
              <a:latin typeface="Lexend Black" panose="020B0604020202020204" charset="0"/>
            </a:endParaRPr>
          </a:p>
        </p:txBody>
      </p:sp>
    </p:spTree>
    <p:extLst>
      <p:ext uri="{BB962C8B-B14F-4D97-AF65-F5344CB8AC3E}">
        <p14:creationId xmlns:p14="http://schemas.microsoft.com/office/powerpoint/2010/main" val="2754265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915A4-53B3-5EF8-BFE9-99185169AC9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B85D582-9A5C-F5F9-7769-4A3AA1832135}"/>
              </a:ext>
            </a:extLst>
          </p:cNvPr>
          <p:cNvSpPr>
            <a:spLocks noGrp="1"/>
          </p:cNvSpPr>
          <p:nvPr>
            <p:ph type="body" idx="1"/>
          </p:nvPr>
        </p:nvSpPr>
        <p:spPr>
          <a:xfrm>
            <a:off x="3615611" y="725734"/>
            <a:ext cx="8047653" cy="6499594"/>
          </a:xfrm>
        </p:spPr>
        <p:txBody>
          <a:bodyPr>
            <a:noAutofit/>
          </a:bodyPr>
          <a:lstStyle/>
          <a:p>
            <a:pPr algn="just"/>
            <a:r>
              <a:rPr lang="en-IN" b="1" i="0" u="none" strike="noStrike" baseline="0" dirty="0">
                <a:solidFill>
                  <a:schemeClr val="tx1"/>
                </a:solidFill>
                <a:latin typeface="Lexend Black"/>
              </a:rPr>
              <a:t>Research Papers </a:t>
            </a:r>
          </a:p>
          <a:p>
            <a:pPr marL="342900" indent="-342900" algn="just">
              <a:lnSpc>
                <a:spcPct val="150000"/>
              </a:lnSpc>
              <a:buFont typeface="Arial" panose="020B0604020202020204" pitchFamily="34" charset="0"/>
              <a:buChar char="•"/>
            </a:pPr>
            <a:r>
              <a:rPr lang="en-IN" sz="2000" b="0" i="0" u="none" strike="noStrike" baseline="0" dirty="0">
                <a:solidFill>
                  <a:schemeClr val="tx1"/>
                </a:solidFill>
                <a:latin typeface="Lexend Black"/>
              </a:rPr>
              <a:t>Meng Jiang, Yi Jing Yu, Qing Zhao, </a:t>
            </a:r>
            <a:r>
              <a:rPr lang="en-IN" sz="2000" b="0" i="0" u="none" strike="noStrike" baseline="0" dirty="0" err="1">
                <a:solidFill>
                  <a:schemeClr val="tx1"/>
                </a:solidFill>
                <a:latin typeface="Lexend Black"/>
              </a:rPr>
              <a:t>Jianqiang</a:t>
            </a:r>
            <a:r>
              <a:rPr lang="en-IN" sz="2000" b="0" i="0" u="none" strike="noStrike" baseline="0" dirty="0">
                <a:solidFill>
                  <a:schemeClr val="tx1"/>
                </a:solidFill>
                <a:latin typeface="Lexend Black"/>
              </a:rPr>
              <a:t> Li, </a:t>
            </a:r>
            <a:r>
              <a:rPr lang="en-IN" sz="2000" b="0" i="0" u="none" strike="noStrike" baseline="0" dirty="0" err="1">
                <a:solidFill>
                  <a:schemeClr val="tx1"/>
                </a:solidFill>
                <a:latin typeface="Lexend Black"/>
              </a:rPr>
              <a:t>Changwei</a:t>
            </a:r>
            <a:r>
              <a:rPr lang="en-IN" sz="2000" b="0" i="0" u="none" strike="noStrike" baseline="0" dirty="0">
                <a:solidFill>
                  <a:schemeClr val="tx1"/>
                </a:solidFill>
                <a:latin typeface="Lexend Black"/>
              </a:rPr>
              <a:t> Song, Hongzhi Qi, Wei Zhai, Dan Luo, Xiaoqin Wang, Guanghui Fu, Bing Xiang Yang*</a:t>
            </a:r>
            <a:r>
              <a:rPr lang="en-IN" sz="2000" b="0" i="1" u="none" strike="noStrike" baseline="0" dirty="0">
                <a:solidFill>
                  <a:schemeClr val="tx1"/>
                </a:solidFill>
                <a:latin typeface="Lexend Black"/>
              </a:rPr>
              <a:t>AI-Enhanced Cognitive </a:t>
            </a:r>
            <a:r>
              <a:rPr lang="en-IN" sz="2000" b="0" i="1" u="none" strike="noStrike" baseline="0" dirty="0" err="1">
                <a:solidFill>
                  <a:schemeClr val="tx1"/>
                </a:solidFill>
                <a:latin typeface="Lexend Black"/>
              </a:rPr>
              <a:t>Behavioral</a:t>
            </a:r>
            <a:r>
              <a:rPr lang="en-IN" sz="2000" b="0" i="1" u="none" strike="noStrike" baseline="0" dirty="0">
                <a:solidFill>
                  <a:schemeClr val="tx1"/>
                </a:solidFill>
                <a:latin typeface="Lexend Black"/>
              </a:rPr>
              <a:t> Therapy: Deep Learning and Large Language Models for Extracting Cognitive Pathways from Social Media Texts </a:t>
            </a:r>
            <a:r>
              <a:rPr lang="en-IN" sz="2000" b="0" i="0" u="none" strike="noStrike" baseline="0" dirty="0">
                <a:solidFill>
                  <a:schemeClr val="tx1"/>
                </a:solidFill>
                <a:latin typeface="Lexend Black"/>
              </a:rPr>
              <a:t>(Published: April 17, 2024 ) </a:t>
            </a:r>
          </a:p>
          <a:p>
            <a:pPr marL="342900" indent="-342900" algn="just">
              <a:lnSpc>
                <a:spcPct val="150000"/>
              </a:lnSpc>
              <a:buFont typeface="Arial" panose="020B0604020202020204" pitchFamily="34" charset="0"/>
              <a:buChar char="•"/>
            </a:pPr>
            <a:r>
              <a:rPr lang="en-IN" sz="2000" b="0" i="0" u="none" strike="noStrike" baseline="0" dirty="0">
                <a:solidFill>
                  <a:schemeClr val="tx1"/>
                </a:solidFill>
                <a:latin typeface="Lexend Black"/>
              </a:rPr>
              <a:t>Veera </a:t>
            </a:r>
            <a:r>
              <a:rPr lang="en-IN" sz="2000" b="0" i="0" u="none" strike="noStrike" baseline="0" dirty="0" err="1">
                <a:solidFill>
                  <a:schemeClr val="tx1"/>
                </a:solidFill>
                <a:latin typeface="Lexend Black"/>
              </a:rPr>
              <a:t>Ankalu</a:t>
            </a:r>
            <a:r>
              <a:rPr lang="en-IN" sz="2000" b="0" i="0" u="none" strike="noStrike" baseline="0" dirty="0">
                <a:solidFill>
                  <a:schemeClr val="tx1"/>
                </a:solidFill>
                <a:latin typeface="Lexend Black"/>
              </a:rPr>
              <a:t> Vuyyuru, G Vamsi Krishna, S. Suma Christal Mary, S. Kayalvili, Abraheem Mohammed Sulayman </a:t>
            </a:r>
            <a:r>
              <a:rPr lang="en-IN" sz="2000" b="0" i="0" u="none" strike="noStrike" baseline="0" dirty="0" err="1">
                <a:solidFill>
                  <a:schemeClr val="tx1"/>
                </a:solidFill>
                <a:latin typeface="Lexend Black"/>
              </a:rPr>
              <a:t>Alsubayhay</a:t>
            </a:r>
            <a:r>
              <a:rPr lang="en-IN" sz="2000" b="0" i="0" u="none" strike="noStrike" baseline="0" dirty="0">
                <a:solidFill>
                  <a:schemeClr val="tx1"/>
                </a:solidFill>
                <a:latin typeface="Lexend Black"/>
              </a:rPr>
              <a:t>, Title: </a:t>
            </a:r>
            <a:r>
              <a:rPr lang="en-IN" sz="2000" b="0" i="1" u="none" strike="noStrike" baseline="0" dirty="0">
                <a:solidFill>
                  <a:schemeClr val="tx1"/>
                </a:solidFill>
                <a:latin typeface="Lexend Black"/>
              </a:rPr>
              <a:t>A Transformer-CNN Hybrid Model for Cognitive </a:t>
            </a:r>
            <a:r>
              <a:rPr lang="en-IN" sz="2000" b="0" i="1" u="none" strike="noStrike" baseline="0" dirty="0" err="1">
                <a:solidFill>
                  <a:schemeClr val="tx1"/>
                </a:solidFill>
                <a:latin typeface="Lexend Black"/>
              </a:rPr>
              <a:t>Behavioral</a:t>
            </a:r>
            <a:r>
              <a:rPr lang="en-IN" sz="2000" b="0" i="1" u="none" strike="noStrike" baseline="0" dirty="0">
                <a:solidFill>
                  <a:schemeClr val="tx1"/>
                </a:solidFill>
                <a:latin typeface="Lexend Black"/>
              </a:rPr>
              <a:t> Therapy in Psychological Assessment and Intervention for Enhanced Diagnostic Accuracy and Treatment Efficiency </a:t>
            </a:r>
            <a:r>
              <a:rPr lang="en-IN" sz="2000" b="0" i="0" u="none" strike="noStrike" baseline="0" dirty="0">
                <a:solidFill>
                  <a:schemeClr val="tx1"/>
                </a:solidFill>
                <a:latin typeface="Lexend Black"/>
              </a:rPr>
              <a:t>(Published: 2023) </a:t>
            </a:r>
            <a:endParaRPr lang="en-IN" sz="2000" dirty="0">
              <a:solidFill>
                <a:schemeClr val="tx1"/>
              </a:solidFill>
              <a:latin typeface="Lexend Black"/>
            </a:endParaRPr>
          </a:p>
          <a:p>
            <a:pPr algn="just"/>
            <a:endParaRPr lang="en-IN" b="0" i="0" u="none" strike="noStrike" baseline="0" dirty="0">
              <a:solidFill>
                <a:schemeClr val="tx1"/>
              </a:solidFill>
              <a:latin typeface="Lexend Black"/>
            </a:endParaRPr>
          </a:p>
        </p:txBody>
      </p:sp>
      <p:sp>
        <p:nvSpPr>
          <p:cNvPr id="4" name="Slide Number Placeholder 3">
            <a:extLst>
              <a:ext uri="{FF2B5EF4-FFF2-40B4-BE49-F238E27FC236}">
                <a16:creationId xmlns:a16="http://schemas.microsoft.com/office/drawing/2014/main" id="{AD56A8E0-9C1C-11CC-A1EE-232F362DF43F}"/>
              </a:ext>
            </a:extLst>
          </p:cNvPr>
          <p:cNvSpPr>
            <a:spLocks noGrp="1"/>
          </p:cNvSpPr>
          <p:nvPr>
            <p:ph type="sldNum" sz="quarter" idx="12"/>
          </p:nvPr>
        </p:nvSpPr>
        <p:spPr/>
        <p:txBody>
          <a:bodyPr/>
          <a:lstStyle/>
          <a:p>
            <a:fld id="{4FAB73BC-B049-4115-A692-8D63A059BFB8}" type="slidenum">
              <a:rPr lang="en-US" sz="2000" smtClean="0"/>
              <a:pPr/>
              <a:t>28</a:t>
            </a:fld>
            <a:endParaRPr lang="en-US" sz="2000" dirty="0"/>
          </a:p>
        </p:txBody>
      </p:sp>
      <p:sp>
        <p:nvSpPr>
          <p:cNvPr id="5" name="Title 1">
            <a:extLst>
              <a:ext uri="{FF2B5EF4-FFF2-40B4-BE49-F238E27FC236}">
                <a16:creationId xmlns:a16="http://schemas.microsoft.com/office/drawing/2014/main" id="{485B6E8D-B152-0E8A-A44D-AB904AA36819}"/>
              </a:ext>
            </a:extLst>
          </p:cNvPr>
          <p:cNvSpPr txBox="1">
            <a:spLocks/>
          </p:cNvSpPr>
          <p:nvPr/>
        </p:nvSpPr>
        <p:spPr>
          <a:xfrm>
            <a:off x="0" y="2749646"/>
            <a:ext cx="3405673" cy="1069457"/>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5900" kern="1200" spc="-100" baseline="0">
                <a:solidFill>
                  <a:srgbClr val="FFFFFF"/>
                </a:solidFill>
                <a:latin typeface="+mj-lt"/>
                <a:ea typeface="+mj-ea"/>
                <a:cs typeface="+mj-cs"/>
              </a:defRPr>
            </a:lvl1pPr>
          </a:lstStyle>
          <a:p>
            <a:pPr algn="ctr"/>
            <a:r>
              <a:rPr lang="en-US" sz="4500" b="1" dirty="0">
                <a:solidFill>
                  <a:schemeClr val="tx1"/>
                </a:solidFill>
                <a:latin typeface="Lexend Black" panose="020B0604020202020204" charset="0"/>
              </a:rPr>
              <a:t>REFERENCES</a:t>
            </a:r>
            <a:endParaRPr lang="en-IN" sz="4500" b="1" dirty="0">
              <a:solidFill>
                <a:schemeClr val="tx1"/>
              </a:solidFill>
              <a:latin typeface="Lexend Black" panose="020B0604020202020204" charset="0"/>
            </a:endParaRPr>
          </a:p>
        </p:txBody>
      </p:sp>
    </p:spTree>
    <p:extLst>
      <p:ext uri="{BB962C8B-B14F-4D97-AF65-F5344CB8AC3E}">
        <p14:creationId xmlns:p14="http://schemas.microsoft.com/office/powerpoint/2010/main" val="22064902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714A-424B-E937-312F-3928CCE5E83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839B19A-4E53-F224-FB5C-CB055FE79B84}"/>
              </a:ext>
            </a:extLst>
          </p:cNvPr>
          <p:cNvSpPr>
            <a:spLocks noGrp="1"/>
          </p:cNvSpPr>
          <p:nvPr>
            <p:ph type="body" idx="1"/>
          </p:nvPr>
        </p:nvSpPr>
        <p:spPr>
          <a:xfrm>
            <a:off x="3684243" y="136525"/>
            <a:ext cx="8047653" cy="5396754"/>
          </a:xfrm>
        </p:spPr>
        <p:txBody>
          <a:bodyPr>
            <a:noAutofit/>
          </a:bodyPr>
          <a:lstStyle/>
          <a:p>
            <a:pPr algn="just"/>
            <a:r>
              <a:rPr lang="en-IN" b="1" i="0" u="none" strike="noStrike" baseline="0" dirty="0">
                <a:solidFill>
                  <a:schemeClr val="tx1"/>
                </a:solidFill>
                <a:latin typeface="Lexend Black"/>
              </a:rPr>
              <a:t>Website Links </a:t>
            </a:r>
            <a:endParaRPr lang="en-IN" b="0" i="0" u="none" strike="noStrike" baseline="0" dirty="0">
              <a:solidFill>
                <a:schemeClr val="tx1"/>
              </a:solidFill>
              <a:latin typeface="Lexend Black"/>
            </a:endParaRPr>
          </a:p>
          <a:p>
            <a:pPr marL="342900" indent="-342900" algn="just">
              <a:lnSpc>
                <a:spcPct val="150000"/>
              </a:lnSpc>
              <a:buFont typeface="Arial" panose="020B0604020202020204" pitchFamily="34" charset="0"/>
              <a:buChar char="•"/>
            </a:pPr>
            <a:r>
              <a:rPr lang="en-IN" sz="2000" b="0" i="0" u="none" strike="noStrike" baseline="0" dirty="0">
                <a:solidFill>
                  <a:schemeClr val="tx1"/>
                </a:solidFill>
                <a:latin typeface="Lexend Black"/>
              </a:rPr>
              <a:t>https://bmcpsychology.biomedcentral.com/articles/10.1186/s40359-025-02371-2 </a:t>
            </a:r>
          </a:p>
          <a:p>
            <a:pPr marL="342900" indent="-342900" algn="just">
              <a:lnSpc>
                <a:spcPct val="150000"/>
              </a:lnSpc>
              <a:buFont typeface="Arial" panose="020B0604020202020204" pitchFamily="34" charset="0"/>
              <a:buChar char="•"/>
            </a:pPr>
            <a:r>
              <a:rPr lang="en-IN" sz="2000" b="0" i="0" u="none" strike="noStrike" baseline="0" dirty="0">
                <a:solidFill>
                  <a:schemeClr val="tx1"/>
                </a:solidFill>
                <a:latin typeface="Lexend Black"/>
              </a:rPr>
              <a:t>https://positivepsychology.com/cbt-cognitive-behavioral-therapy-techniques-worksheets/ </a:t>
            </a:r>
          </a:p>
          <a:p>
            <a:pPr marL="342900" indent="-342900" algn="just">
              <a:lnSpc>
                <a:spcPct val="150000"/>
              </a:lnSpc>
              <a:buFont typeface="Arial" panose="020B0604020202020204" pitchFamily="34" charset="0"/>
              <a:buChar char="•"/>
            </a:pPr>
            <a:r>
              <a:rPr lang="en-IN" sz="2000" b="0" i="0" u="none" strike="noStrike" baseline="0" dirty="0">
                <a:solidFill>
                  <a:schemeClr val="tx1"/>
                </a:solidFill>
                <a:latin typeface="Lexend Black"/>
              </a:rPr>
              <a:t>https://www.cambridge.org/core/journals/european-psychiatry/article/effectiveness-of-cbt-for-children-and-adolescents-with-depression-a-systematic-review-and-metaregression-analysis/D1D82E21388A16EB077D02A24366F689 </a:t>
            </a:r>
          </a:p>
          <a:p>
            <a:pPr marL="342900" indent="-342900" algn="just">
              <a:lnSpc>
                <a:spcPct val="150000"/>
              </a:lnSpc>
              <a:buFont typeface="Arial" panose="020B0604020202020204" pitchFamily="34" charset="0"/>
              <a:buChar char="•"/>
            </a:pPr>
            <a:r>
              <a:rPr lang="en-IN" sz="2000" b="0" i="0" u="none" strike="noStrike" baseline="0" dirty="0">
                <a:solidFill>
                  <a:schemeClr val="tx1"/>
                </a:solidFill>
                <a:latin typeface="Lexend Black"/>
              </a:rPr>
              <a:t>https://neurolaunch.com/bipolar-black-and-white-thinking/ </a:t>
            </a:r>
          </a:p>
          <a:p>
            <a:pPr marL="342900" indent="-342900" algn="just">
              <a:lnSpc>
                <a:spcPct val="150000"/>
              </a:lnSpc>
              <a:buFont typeface="Arial" panose="020B0604020202020204" pitchFamily="34" charset="0"/>
              <a:buChar char="•"/>
            </a:pPr>
            <a:r>
              <a:rPr lang="en-IN" sz="2000" b="0" i="0" u="none" strike="noStrike" baseline="0" dirty="0">
                <a:solidFill>
                  <a:schemeClr val="tx1"/>
                </a:solidFill>
                <a:latin typeface="Lexend Black"/>
              </a:rPr>
              <a:t>https://zionpsychology.wordpress.com/2024/08/17/exploring-black-and-white-thinking-in-mental-health-4-examples-and-5-effective-approaches/ </a:t>
            </a:r>
          </a:p>
        </p:txBody>
      </p:sp>
      <p:sp>
        <p:nvSpPr>
          <p:cNvPr id="4" name="Slide Number Placeholder 3">
            <a:extLst>
              <a:ext uri="{FF2B5EF4-FFF2-40B4-BE49-F238E27FC236}">
                <a16:creationId xmlns:a16="http://schemas.microsoft.com/office/drawing/2014/main" id="{73F518F9-0F7B-1EE1-B81A-3866EBDD3791}"/>
              </a:ext>
            </a:extLst>
          </p:cNvPr>
          <p:cNvSpPr>
            <a:spLocks noGrp="1"/>
          </p:cNvSpPr>
          <p:nvPr>
            <p:ph type="sldNum" sz="quarter" idx="12"/>
          </p:nvPr>
        </p:nvSpPr>
        <p:spPr/>
        <p:txBody>
          <a:bodyPr/>
          <a:lstStyle/>
          <a:p>
            <a:fld id="{4FAB73BC-B049-4115-A692-8D63A059BFB8}" type="slidenum">
              <a:rPr lang="en-US" sz="2000" smtClean="0"/>
              <a:pPr/>
              <a:t>29</a:t>
            </a:fld>
            <a:endParaRPr lang="en-US" sz="2000" dirty="0"/>
          </a:p>
        </p:txBody>
      </p:sp>
      <p:sp>
        <p:nvSpPr>
          <p:cNvPr id="2" name="Title 1">
            <a:extLst>
              <a:ext uri="{FF2B5EF4-FFF2-40B4-BE49-F238E27FC236}">
                <a16:creationId xmlns:a16="http://schemas.microsoft.com/office/drawing/2014/main" id="{C11DA8F4-C7B7-C079-49A0-D5FAFA068A2F}"/>
              </a:ext>
            </a:extLst>
          </p:cNvPr>
          <p:cNvSpPr txBox="1">
            <a:spLocks/>
          </p:cNvSpPr>
          <p:nvPr/>
        </p:nvSpPr>
        <p:spPr>
          <a:xfrm>
            <a:off x="0" y="2749646"/>
            <a:ext cx="3405673" cy="1069457"/>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5900" kern="1200" spc="-100" baseline="0">
                <a:solidFill>
                  <a:srgbClr val="FFFFFF"/>
                </a:solidFill>
                <a:latin typeface="+mj-lt"/>
                <a:ea typeface="+mj-ea"/>
                <a:cs typeface="+mj-cs"/>
              </a:defRPr>
            </a:lvl1pPr>
          </a:lstStyle>
          <a:p>
            <a:pPr algn="ctr"/>
            <a:r>
              <a:rPr lang="en-US" sz="4500" b="1" dirty="0">
                <a:solidFill>
                  <a:schemeClr val="tx1"/>
                </a:solidFill>
                <a:latin typeface="Lexend Black" panose="020B0604020202020204" charset="0"/>
              </a:rPr>
              <a:t>REFERENCES</a:t>
            </a:r>
            <a:endParaRPr lang="en-IN" sz="4500" b="1" dirty="0">
              <a:solidFill>
                <a:schemeClr val="tx1"/>
              </a:solidFill>
              <a:latin typeface="Lexend Black" panose="020B0604020202020204" charset="0"/>
            </a:endParaRPr>
          </a:p>
        </p:txBody>
      </p:sp>
    </p:spTree>
    <p:extLst>
      <p:ext uri="{BB962C8B-B14F-4D97-AF65-F5344CB8AC3E}">
        <p14:creationId xmlns:p14="http://schemas.microsoft.com/office/powerpoint/2010/main" val="7174801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2B542-CD9D-4645-4BE8-B225DA34F431}"/>
              </a:ext>
            </a:extLst>
          </p:cNvPr>
          <p:cNvSpPr>
            <a:spLocks noGrp="1"/>
          </p:cNvSpPr>
          <p:nvPr>
            <p:ph type="ctrTitle"/>
          </p:nvPr>
        </p:nvSpPr>
        <p:spPr>
          <a:xfrm>
            <a:off x="2674714" y="2915629"/>
            <a:ext cx="4631156" cy="1026741"/>
          </a:xfrm>
        </p:spPr>
        <p:txBody>
          <a:bodyPr>
            <a:noAutofit/>
          </a:bodyPr>
          <a:lstStyle/>
          <a:p>
            <a:r>
              <a:rPr lang="en-US" sz="7000" b="1" dirty="0">
                <a:solidFill>
                  <a:schemeClr val="tx1"/>
                </a:solidFill>
                <a:latin typeface="Lexend Black" panose="020B0604020202020204"/>
              </a:rPr>
              <a:t>THANK YOU</a:t>
            </a:r>
            <a:endParaRPr lang="en-IN" sz="7000" b="1" dirty="0">
              <a:solidFill>
                <a:schemeClr val="tx1"/>
              </a:solidFill>
              <a:latin typeface="Lexend Black" panose="020B0604020202020204"/>
            </a:endParaRPr>
          </a:p>
        </p:txBody>
      </p:sp>
      <p:sp>
        <p:nvSpPr>
          <p:cNvPr id="4" name="Slide Number Placeholder 3">
            <a:extLst>
              <a:ext uri="{FF2B5EF4-FFF2-40B4-BE49-F238E27FC236}">
                <a16:creationId xmlns:a16="http://schemas.microsoft.com/office/drawing/2014/main" id="{A12F773A-EE6F-CC93-FDD7-DA1549F088B6}"/>
              </a:ext>
            </a:extLst>
          </p:cNvPr>
          <p:cNvSpPr>
            <a:spLocks noGrp="1"/>
          </p:cNvSpPr>
          <p:nvPr>
            <p:ph type="sldNum" sz="quarter" idx="12"/>
          </p:nvPr>
        </p:nvSpPr>
        <p:spPr/>
        <p:txBody>
          <a:bodyPr/>
          <a:lstStyle/>
          <a:p>
            <a:fld id="{4FAB73BC-B049-4115-A692-8D63A059BFB8}" type="slidenum">
              <a:rPr lang="en-US" sz="2000" smtClean="0"/>
              <a:pPr/>
              <a:t>30</a:t>
            </a:fld>
            <a:endParaRPr lang="en-US" sz="2000" dirty="0"/>
          </a:p>
        </p:txBody>
      </p:sp>
    </p:spTree>
    <p:extLst>
      <p:ext uri="{BB962C8B-B14F-4D97-AF65-F5344CB8AC3E}">
        <p14:creationId xmlns:p14="http://schemas.microsoft.com/office/powerpoint/2010/main" val="808678798"/>
      </p:ext>
    </p:extLst>
  </p:cSld>
  <p:clrMapOvr>
    <a:masterClrMapping/>
  </p:clrMapOvr>
</p:sld>
</file>

<file path=ppt/theme/theme1.xml><?xml version="1.0" encoding="utf-8"?>
<a:theme xmlns:a="http://schemas.openxmlformats.org/drawingml/2006/main" name="Frame">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TM02836342[[fn=Ion]]</Template>
  <TotalTime>557</TotalTime>
  <Words>2235</Words>
  <Application>Microsoft Office PowerPoint</Application>
  <PresentationFormat>Widescreen</PresentationFormat>
  <Paragraphs>173</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Corbel</vt:lpstr>
      <vt:lpstr>Lexend Black</vt:lpstr>
      <vt:lpstr>Wingdings 2</vt:lpstr>
      <vt:lpstr>Frame</vt:lpstr>
      <vt:lpstr>Analysis of Cognitive Behavioural Patterns Among Students Using Data Analytics</vt:lpstr>
      <vt:lpstr>AGENDA</vt:lpstr>
      <vt:lpstr>PowerPoint Presentation</vt:lpstr>
      <vt:lpstr>PowerPoint Presentation</vt:lpstr>
      <vt:lpstr>PowerPoint Presentation</vt:lpstr>
      <vt:lpstr>PowerPoint Presentation</vt:lpstr>
      <vt:lpstr>RELATED WORK</vt:lpstr>
      <vt:lpstr>RELATED WORK</vt:lpstr>
      <vt:lpstr>PowerPoint Presentation</vt:lpstr>
      <vt:lpstr>PowerPoint Presentation</vt:lpstr>
      <vt:lpstr>PowerPoint Presentation</vt:lpstr>
      <vt:lpstr>PowerPoint Presentation</vt:lpstr>
      <vt:lpstr>PowerPoint Presentation</vt:lpstr>
      <vt:lpstr>PowerPoint Presentation</vt:lpstr>
      <vt:lpstr>EXPERIMENTAL ANALYSIS AND RESULTS</vt:lpstr>
      <vt:lpstr>EXPERIMENTAL ANALYSIS AND RESULTS</vt:lpstr>
      <vt:lpstr>EXPERIMENTAL ANALYSIS AND RESULTS</vt:lpstr>
      <vt:lpstr>EXPERIMENTAL ANALYSIS AND RESULTS</vt:lpstr>
      <vt:lpstr>PowerPoint Presentation</vt:lpstr>
      <vt:lpstr>EXPERIMENTAL ANALYSIS AND RESULTS</vt:lpstr>
      <vt:lpstr>EXPERIMENTAL ANALYSIS AND RESULTS</vt:lpstr>
      <vt:lpstr>PowerPoint Presentation</vt:lpstr>
      <vt:lpstr>PowerPoint Presentation</vt:lpstr>
      <vt:lpstr>EXPERIMENTAL ANALYSIS AND RESULTS</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nivi nivi</dc:creator>
  <cp:lastModifiedBy>nivi nivi</cp:lastModifiedBy>
  <cp:revision>83</cp:revision>
  <dcterms:created xsi:type="dcterms:W3CDTF">2025-04-18T16:58:00Z</dcterms:created>
  <dcterms:modified xsi:type="dcterms:W3CDTF">2025-04-22T03:36:47Z</dcterms:modified>
</cp:coreProperties>
</file>